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33"/>
  </p:notesMasterIdLst>
  <p:sldIdLst>
    <p:sldId id="259" r:id="rId2"/>
    <p:sldId id="257" r:id="rId3"/>
    <p:sldId id="258" r:id="rId4"/>
    <p:sldId id="260" r:id="rId5"/>
    <p:sldId id="262" r:id="rId6"/>
    <p:sldId id="291" r:id="rId7"/>
    <p:sldId id="263" r:id="rId8"/>
    <p:sldId id="305" r:id="rId9"/>
    <p:sldId id="294" r:id="rId10"/>
    <p:sldId id="295" r:id="rId11"/>
    <p:sldId id="282" r:id="rId12"/>
    <p:sldId id="297" r:id="rId13"/>
    <p:sldId id="298" r:id="rId14"/>
    <p:sldId id="299" r:id="rId15"/>
    <p:sldId id="265" r:id="rId16"/>
    <p:sldId id="296" r:id="rId17"/>
    <p:sldId id="281" r:id="rId18"/>
    <p:sldId id="300" r:id="rId19"/>
    <p:sldId id="302" r:id="rId20"/>
    <p:sldId id="303" r:id="rId21"/>
    <p:sldId id="304" r:id="rId22"/>
    <p:sldId id="267" r:id="rId23"/>
    <p:sldId id="284" r:id="rId24"/>
    <p:sldId id="286" r:id="rId25"/>
    <p:sldId id="287" r:id="rId26"/>
    <p:sldId id="288" r:id="rId27"/>
    <p:sldId id="289" r:id="rId28"/>
    <p:sldId id="290" r:id="rId29"/>
    <p:sldId id="270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schnitt ohne Titel" id="{B7FEB1E5-28BF-4FDF-9467-68706E5B3862}">
          <p14:sldIdLst>
            <p14:sldId id="259"/>
          </p14:sldIdLst>
        </p14:section>
        <p14:section name="Abschnitt ohne Titel" id="{10D71CEC-87F0-4E32-B3B2-A5A12562DAD2}">
          <p14:sldIdLst>
            <p14:sldId id="257"/>
            <p14:sldId id="258"/>
            <p14:sldId id="260"/>
            <p14:sldId id="262"/>
            <p14:sldId id="291"/>
            <p14:sldId id="263"/>
            <p14:sldId id="305"/>
            <p14:sldId id="294"/>
            <p14:sldId id="295"/>
            <p14:sldId id="282"/>
            <p14:sldId id="297"/>
            <p14:sldId id="298"/>
            <p14:sldId id="299"/>
            <p14:sldId id="265"/>
            <p14:sldId id="296"/>
            <p14:sldId id="281"/>
            <p14:sldId id="300"/>
            <p14:sldId id="302"/>
            <p14:sldId id="303"/>
            <p14:sldId id="304"/>
            <p14:sldId id="267"/>
            <p14:sldId id="284"/>
            <p14:sldId id="286"/>
            <p14:sldId id="287"/>
            <p14:sldId id="288"/>
            <p14:sldId id="289"/>
            <p14:sldId id="290"/>
            <p14:sldId id="270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tzlar, Robin" initials="WR" lastIdx="2" clrIdx="0">
    <p:extLst>
      <p:ext uri="{19B8F6BF-5375-455C-9EA6-DF929625EA0E}">
        <p15:presenceInfo xmlns:p15="http://schemas.microsoft.com/office/powerpoint/2012/main" userId="Wetzlar, Rob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69252" autoAdjust="0"/>
  </p:normalViewPr>
  <p:slideViewPr>
    <p:cSldViewPr snapToGrid="0">
      <p:cViewPr>
        <p:scale>
          <a:sx n="91" d="100"/>
          <a:sy n="91" d="100"/>
        </p:scale>
        <p:origin x="71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Client -&gt; Server</c:v>
                </c:pt>
                <c:pt idx="1">
                  <c:v>Server -&gt; Client (Reverse)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8.3000000000000007</c:v>
                </c:pt>
                <c:pt idx="1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9C-484A-B65B-66C450AA1BFD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Secure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Client -&gt; Server</c:v>
                </c:pt>
                <c:pt idx="1">
                  <c:v>Server -&gt; Client (Reverse)</c:v>
                </c:pt>
              </c:strCache>
            </c:strRef>
          </c:cat>
          <c:val>
            <c:numRef>
              <c:f>Tabelle1!$C$2:$C$3</c:f>
              <c:numCache>
                <c:formatCode>General</c:formatCode>
                <c:ptCount val="2"/>
                <c:pt idx="0">
                  <c:v>6.2</c:v>
                </c:pt>
                <c:pt idx="1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9C-484A-B65B-66C450AA1B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083214543"/>
        <c:axId val="1083209263"/>
      </c:barChart>
      <c:catAx>
        <c:axId val="10832145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83209263"/>
        <c:crosses val="autoZero"/>
        <c:auto val="1"/>
        <c:lblAlgn val="ctr"/>
        <c:lblOffset val="100"/>
        <c:noMultiLvlLbl val="0"/>
      </c:catAx>
      <c:valAx>
        <c:axId val="1083209263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Mbit/s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crossAx val="1083214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F66AD-5EDD-4A2D-B5B0-A56DD73A056F}" type="datetimeFigureOut">
              <a:rPr lang="de-DE" smtClean="0"/>
              <a:t>31.01.26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360DB-0380-40E8-8BC8-C7182241C6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1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256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0879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523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525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C80F8-52AE-5B1E-0873-57186496A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DB8363-6756-7747-C458-7767C1B33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4D14C42-7C67-CD96-AE32-8F4279FFC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F7C7F2-B11B-70A8-C213-A6EAD8051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2539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0044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5921-2C11-6327-1FCD-F04A8F6E7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23D6FCB-07D3-689A-1B63-6420C06EB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D11EE5-38D9-E1FC-27F8-4DBE02394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07382D-BCE0-A060-D2D3-8B9223D44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85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9C59-07B9-0265-22F4-3081DB5F5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D6C7BB-7B58-C683-4760-2EE75302F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7E0F133-B2B4-F410-4A52-B7FC56C62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831B9B-E717-C584-64BC-7C4D19B34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327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466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D3205-F786-3A78-668D-9D9AF93F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0DCDAF-1AA7-84EE-1D60-0FE992D38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A996EEE-46FC-7079-86FF-BA0D5DD30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D82365-D935-B6C6-6D3E-8271CF4A6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6712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55B67-6BEE-F8DD-E411-FE18E9B6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AE1DEA3-E9AA-7433-82F5-A1C9EEF5B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F883D9-EF14-39F6-3576-02329B719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8082F7-414D-ECA9-ABBF-7A72DF284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407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56F1-ADAD-02EA-7B90-3869A3E9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9FAF46D-3CF5-17F1-2FE8-BFAC305FF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204968F-CDA7-3469-A1AD-A78C863E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CDB4AB-2083-1A2D-4F42-DF23297E5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9724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2704-112F-DB3A-BADB-C27022AC7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DCA3F5E-6F94-B123-F9B4-1F031A70E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C13C08-30B6-06A4-736A-7CB8FA29D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7CE550-F8A5-1014-788B-8D3D7F2F1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799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diesem Teil geht es um die Tests des entwickelten MQTT-Tunnels.</a:t>
            </a:r>
            <a:br>
              <a:rPr lang="de-DE" dirty="0"/>
            </a:br>
            <a:r>
              <a:rPr lang="de-DE" dirty="0"/>
              <a:t>Zuerst haben wir überprüft, ob der Tunnel funktional korrekt arbeitet, also ob IP-Kommunikation grundsätzlich möglich ist.</a:t>
            </a:r>
            <a:br>
              <a:rPr lang="de-DE" dirty="0"/>
            </a:br>
            <a:r>
              <a:rPr lang="de-DE" dirty="0"/>
              <a:t>Anschließend haben wir Performance- und Latenztests durchgeführt und dabei jeweils den unverschlüsselten Baseline-Betrieb mit dem verschlüsselten Secure-Betrieb verglichen.</a:t>
            </a:r>
            <a:br>
              <a:rPr lang="de-DE" dirty="0"/>
            </a:br>
            <a:r>
              <a:rPr lang="de-DE" dirty="0"/>
              <a:t>Alle Tests wurden in einer kontrollierten Umgebung mit zwei virtuellen Maschinen und einem MQTT-Broker durchgeführt.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0625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Der erste Test prüft ausschließlich die Erreichbarkeit über den Tunnel.</a:t>
            </a:r>
            <a:br>
              <a:rPr lang="de-DE" dirty="0"/>
            </a:br>
            <a:r>
              <a:rPr lang="de-DE" dirty="0"/>
              <a:t>Dazu wurde ein ICMP-Ping vom Tunnel-Client zur Tunnel-IP des Servers gesendet.</a:t>
            </a:r>
            <a:br>
              <a:rPr lang="de-DE" dirty="0"/>
            </a:br>
            <a:r>
              <a:rPr lang="de-DE" dirty="0"/>
              <a:t>Wichtig ist hier: Der Ping läuft nicht über das physische Netzwerk, sondern über das virtuelle TUN-Interface.</a:t>
            </a:r>
            <a:br>
              <a:rPr lang="de-DE" dirty="0"/>
            </a:br>
            <a:r>
              <a:rPr lang="de-DE" dirty="0"/>
              <a:t>Der erfolgreiche Ping zeigt, dass IP-Pakete korrekt durch den Tunnel transportiert werden.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0455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Im zweiten funktionalen Test wurde geprüft, ob TCP-Verbindungen transparent über den Tunnel funktionieren.</a:t>
            </a:r>
            <a:br>
              <a:rPr lang="de-DE" dirty="0"/>
            </a:br>
            <a:r>
              <a:rPr lang="de-DE" dirty="0"/>
              <a:t>Dazu wurde auf dem Server ein TCP-</a:t>
            </a:r>
            <a:r>
              <a:rPr lang="de-DE" dirty="0" err="1"/>
              <a:t>Listener</a:t>
            </a:r>
            <a:r>
              <a:rPr lang="de-DE" dirty="0"/>
              <a:t> mit </a:t>
            </a:r>
            <a:r>
              <a:rPr lang="de-DE" dirty="0" err="1"/>
              <a:t>netcat</a:t>
            </a:r>
            <a:r>
              <a:rPr lang="de-DE" dirty="0"/>
              <a:t> gestartet und vom Client eine Verbindung über die Tunnel-IP aufgebaut.</a:t>
            </a:r>
            <a:br>
              <a:rPr lang="de-DE" dirty="0"/>
            </a:br>
            <a:r>
              <a:rPr lang="de-DE" dirty="0"/>
              <a:t>Die gesendete Testnachricht kam korrekt beim Server an.</a:t>
            </a:r>
            <a:br>
              <a:rPr lang="de-DE" dirty="0"/>
            </a:br>
            <a:r>
              <a:rPr lang="de-DE" dirty="0"/>
              <a:t>Dieser Test zeigt, dass nicht nur ICMP, sondern auch zustandsbehaftete TCP-Verbindungen zuverlässig über den Tunnel laufen.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029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Für die Performance-Analyse wurde das Werkzeug iperf3 verwendet.</a:t>
            </a:r>
            <a:br>
              <a:rPr lang="de-DE" dirty="0"/>
            </a:br>
            <a:r>
              <a:rPr lang="de-DE" dirty="0"/>
              <a:t>Untersucht wurden TCP- und UDP-Durchsatz sowie </a:t>
            </a:r>
            <a:r>
              <a:rPr lang="de-DE" dirty="0" err="1"/>
              <a:t>Jitter</a:t>
            </a:r>
            <a:r>
              <a:rPr lang="de-DE" dirty="0"/>
              <a:t> und Paketverlust.</a:t>
            </a:r>
            <a:br>
              <a:rPr lang="de-DE" dirty="0"/>
            </a:br>
            <a:r>
              <a:rPr lang="de-DE" dirty="0"/>
              <a:t>Alle Messungen wurden über das TUN-Interface durchgeführt.</a:t>
            </a:r>
            <a:br>
              <a:rPr lang="de-DE" dirty="0"/>
            </a:br>
            <a:r>
              <a:rPr lang="de-DE" dirty="0"/>
              <a:t>Zusätzlich haben wir Vergleichsmessungen ohne Tunnel im Host-</a:t>
            </a:r>
            <a:r>
              <a:rPr lang="de-DE" dirty="0" err="1"/>
              <a:t>Only</a:t>
            </a:r>
            <a:r>
              <a:rPr lang="de-DE" dirty="0"/>
              <a:t>-Netzwerk durchgeführt, um eine Referenz zu haben.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4764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sieht man den gemessenen TCP-Durchsatz über den Tunnel.</a:t>
            </a:r>
            <a:br>
              <a:rPr lang="de-DE" dirty="0"/>
            </a:br>
            <a:r>
              <a:rPr lang="de-DE" dirty="0"/>
              <a:t>Im Baseline-Betrieb, also ohne Verschlüsselung, lag der Durchsatz im Client-zu-Server-Betrieb bei etwa 8 bis 8,7 Mbit/s.</a:t>
            </a:r>
            <a:br>
              <a:rPr lang="de-DE" dirty="0"/>
            </a:br>
            <a:r>
              <a:rPr lang="de-DE" dirty="0"/>
              <a:t>Mit aktivierter Verschlüsselung sank der Durchsatz auf etwa 5,7 bis 6,7 Mbit/s.</a:t>
            </a:r>
            <a:br>
              <a:rPr lang="de-DE" dirty="0"/>
            </a:br>
            <a:r>
              <a:rPr lang="de-DE" dirty="0"/>
              <a:t>In der Reverse-Richtung lagen beide Modi bei etwa 2,6 Mbit/s.</a:t>
            </a:r>
          </a:p>
          <a:p>
            <a:r>
              <a:rPr lang="de-DE" dirty="0"/>
              <a:t>Zum Vergleich: Ohne Tunnel, also direkt über das Host-</a:t>
            </a:r>
            <a:r>
              <a:rPr lang="de-DE" dirty="0" err="1"/>
              <a:t>Only</a:t>
            </a:r>
            <a:r>
              <a:rPr lang="de-DE" dirty="0"/>
              <a:t>-Netzwerk, wurden TCP-Durchsätze von etwa 2,6 bis 2,7 Gbit/s gemessen.</a:t>
            </a:r>
            <a:br>
              <a:rPr lang="de-DE" dirty="0"/>
            </a:br>
            <a:r>
              <a:rPr lang="de-DE" dirty="0"/>
              <a:t>Dieser starke Unterschied zeigt, dass der Durchsatz nicht durch das Netzwerk selbst, sondern durch das MQTT-basierte Tunnelkonzept begrenzt wird.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501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 den UDP-Tests wurden verschiedene Zielraten getestet.</a:t>
            </a:r>
            <a:br>
              <a:rPr lang="de-DE" dirty="0"/>
            </a:br>
            <a:r>
              <a:rPr lang="de-DE" dirty="0"/>
              <a:t>Bis 5 Mbit/s traten weder im Baseline- noch im Secure-Betrieb Paketverluste auf.</a:t>
            </a:r>
            <a:br>
              <a:rPr lang="de-DE" dirty="0"/>
            </a:br>
            <a:r>
              <a:rPr lang="de-DE" dirty="0"/>
              <a:t>Der gemessene </a:t>
            </a:r>
            <a:r>
              <a:rPr lang="de-DE" dirty="0" err="1"/>
              <a:t>Jitter</a:t>
            </a:r>
            <a:r>
              <a:rPr lang="de-DE" dirty="0"/>
              <a:t> lag dabei im Bereich von etwa 1 bis 2 Millisekunden.</a:t>
            </a:r>
          </a:p>
          <a:p>
            <a:r>
              <a:rPr lang="de-DE" dirty="0" err="1"/>
              <a:t>Jitter</a:t>
            </a:r>
            <a:r>
              <a:rPr lang="de-DE" dirty="0"/>
              <a:t> beschreibt die zeitliche Schwankung zwischen ankommenden Paketen.</a:t>
            </a:r>
            <a:br>
              <a:rPr lang="de-DE" dirty="0"/>
            </a:br>
            <a:r>
              <a:rPr lang="de-DE" dirty="0"/>
              <a:t>Ein niedriger </a:t>
            </a:r>
            <a:r>
              <a:rPr lang="de-DE" dirty="0" err="1"/>
              <a:t>Jitter</a:t>
            </a:r>
            <a:r>
              <a:rPr lang="de-DE" dirty="0"/>
              <a:t> bedeutet eine gleichmäßige Übertragung, ein hoher </a:t>
            </a:r>
            <a:r>
              <a:rPr lang="de-DE" dirty="0" err="1"/>
              <a:t>Jitter</a:t>
            </a:r>
            <a:r>
              <a:rPr lang="de-DE" dirty="0"/>
              <a:t> weist auf Verzögerungsschwankungen hin.</a:t>
            </a:r>
          </a:p>
          <a:p>
            <a:r>
              <a:rPr lang="de-DE" dirty="0"/>
              <a:t>Bei einer </a:t>
            </a:r>
            <a:r>
              <a:rPr lang="de-DE" dirty="0" err="1"/>
              <a:t>Zielrate</a:t>
            </a:r>
            <a:r>
              <a:rPr lang="de-DE" dirty="0"/>
              <a:t> von 10 Mbit/s kam es zu deutlichem Paketverlust:</a:t>
            </a:r>
            <a:br>
              <a:rPr lang="de-DE" dirty="0"/>
            </a:br>
            <a:r>
              <a:rPr lang="de-DE" dirty="0"/>
              <a:t>etwa 38 % im Baseline-Betrieb und etwa 23 % im Secure-Betrieb.</a:t>
            </a:r>
            <a:br>
              <a:rPr lang="de-DE" dirty="0"/>
            </a:br>
            <a:r>
              <a:rPr lang="de-DE" dirty="0"/>
              <a:t>Diese Verluste traten also unabhängig von der Verschlüsselung auf und sind auf die hohe Nachrichtenrate und den MQTT-Overhead zurückzuführen.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082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Zusammenfassend zeigen die Tests, dass der Tunnel funktional korrekt arbeitet und sowohl ICMP, TCP als auch UDP unterstützt.</a:t>
            </a:r>
            <a:br>
              <a:rPr lang="de-DE" dirty="0"/>
            </a:br>
            <a:r>
              <a:rPr lang="de-DE" dirty="0"/>
              <a:t>Die Performance liegt jedoch deutlich unter der nativen Netzwerkleistung.</a:t>
            </a:r>
            <a:br>
              <a:rPr lang="de-DE" dirty="0"/>
            </a:br>
            <a:r>
              <a:rPr lang="de-DE" dirty="0"/>
              <a:t>Der Hauptlimitierungsfaktor ist nicht die Verschlüsselung, sondern das MQTT-Transportmodell, bei dem jedes IP-Paket in einzelne MQTT-Nachrichten gekapselt wird.</a:t>
            </a:r>
          </a:p>
          <a:p>
            <a:r>
              <a:rPr lang="de-DE" dirty="0"/>
              <a:t>Der Tunnel eignet sich daher vor allem für Szenarien mit geringen bis mittleren Datenraten oder speziellen Anforderungen an Kapselung und Sichtbarkeit, weniger für Hochdurchsatz-Anwendungen.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492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0EA37-2719-496D-B066-D01E591F9586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171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4892-0E1C-4F9C-A731-EDC947A1751A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12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8217-FD1D-4B5F-BF67-2458880C2ED6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57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EA18-BC9B-4F4F-ADC6-F8B020DDC0B5}" type="datetime1">
              <a:rPr lang="de-DE" smtClean="0"/>
              <a:t>31.01.26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75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1F446-0E77-48AF-A20C-66D054A9EFD2}" type="datetime1">
              <a:rPr lang="de-DE" smtClean="0"/>
              <a:t>31.01.26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93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0B97-DD2F-4480-AD16-E44EB86EF84F}" type="datetime1">
              <a:rPr lang="de-DE" smtClean="0"/>
              <a:t>31.01.26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1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2A2C-E376-49AB-894F-613627C71857}" type="datetime1">
              <a:rPr lang="de-DE" smtClean="0"/>
              <a:t>31.01.26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216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6046-2FA4-41C2-80DD-B55B708ABAB3}" type="datetime1">
              <a:rPr lang="de-DE" smtClean="0"/>
              <a:t>31.01.26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45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F25E-4DC8-42C8-968F-E97733ACA5FB}" type="datetime1">
              <a:rPr lang="de-DE" smtClean="0"/>
              <a:t>31.01.26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36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D89E-76F7-4C2F-86CB-0BBBA728C555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34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DEC-8CD9-49E1-A161-F20005E662B9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91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241EE-90E2-43AD-A9EB-AFCAA3F3C311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7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fficeArt object">
            <a:extLst>
              <a:ext uri="{FF2B5EF4-FFF2-40B4-BE49-F238E27FC236}">
                <a16:creationId xmlns:a16="http://schemas.microsoft.com/office/drawing/2014/main" id="{07F91125-2D31-4ADA-A4D5-D76FEB06F72B}"/>
              </a:ext>
            </a:extLst>
          </p:cNvPr>
          <p:cNvPicPr/>
          <p:nvPr/>
        </p:nvPicPr>
        <p:blipFill>
          <a:blip r:embed="rId3">
            <a:alphaModFix amt="39640"/>
          </a:blip>
          <a:srcRect t="29424" r="7489"/>
          <a:stretch>
            <a:fillRect/>
          </a:stretch>
        </p:blipFill>
        <p:spPr>
          <a:xfrm>
            <a:off x="0" y="-1038571"/>
            <a:ext cx="13094017" cy="9989379"/>
          </a:xfrm>
          <a:prstGeom prst="rect">
            <a:avLst/>
          </a:prstGeom>
          <a:ln w="12700" cap="flat">
            <a:noFill/>
            <a:miter lim="400000"/>
          </a:ln>
          <a:effectLst>
            <a:reflection stA="77789" endPos="40000" dir="5400000" sy="-100000" algn="bl" rotWithShape="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EA0765-9E22-4220-A5B9-366F60EBF3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sz="6000" b="1" dirty="0"/>
              <a:t>Tunneln von Nachrichten innerhalb von Messagebroker basierten Protokollen</a:t>
            </a:r>
            <a:endParaRPr lang="de-DE" b="1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854AAF-0F3A-42F9-9FC0-2101F1DD0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255963"/>
          </a:xfrm>
        </p:spPr>
        <p:txBody>
          <a:bodyPr>
            <a:normAutofit lnSpcReduction="10000"/>
          </a:bodyPr>
          <a:lstStyle/>
          <a:p>
            <a:pPr algn="l"/>
            <a:r>
              <a:rPr lang="de-DE" sz="3100" dirty="0"/>
              <a:t>Fachpraktikum 63585 </a:t>
            </a:r>
          </a:p>
          <a:p>
            <a:pPr algn="l"/>
            <a:r>
              <a:rPr lang="de-DE" sz="3100" dirty="0"/>
              <a:t>IT-Sicherheit, IT-Forensik und Datenschutz</a:t>
            </a:r>
          </a:p>
          <a:p>
            <a:pPr algn="l"/>
            <a:endParaRPr lang="de-DE" sz="3100" dirty="0"/>
          </a:p>
          <a:p>
            <a:pPr algn="l"/>
            <a:r>
              <a:rPr lang="de-DE" sz="3100" dirty="0"/>
              <a:t>Gruppenarbeit</a:t>
            </a: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Per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Hüpenbecker</a:t>
            </a:r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Carsten Lenzen</a:t>
            </a: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Robin Wetzlar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589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334B1A-8C99-4B48-AB66-4779CAC8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3FEFF3-DCC5-4977-8C6A-E9A087F73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Vorstellung Protokolle </a:t>
            </a:r>
            <a:r>
              <a:rPr lang="de-DE" dirty="0" err="1"/>
              <a:t>Corba</a:t>
            </a:r>
            <a:r>
              <a:rPr lang="de-DE" dirty="0"/>
              <a:t> / MQTT</a:t>
            </a:r>
          </a:p>
          <a:p>
            <a:r>
              <a:rPr lang="de-DE" dirty="0"/>
              <a:t>Systemdesign</a:t>
            </a:r>
          </a:p>
          <a:p>
            <a:r>
              <a:rPr lang="de-DE" dirty="0"/>
              <a:t>Softwareaufruf </a:t>
            </a:r>
          </a:p>
          <a:p>
            <a:r>
              <a:rPr lang="de-DE" dirty="0"/>
              <a:t>Testszenarien inkl. Ergebnisse</a:t>
            </a:r>
          </a:p>
          <a:p>
            <a:r>
              <a:rPr lang="de-DE" dirty="0"/>
              <a:t>Fazit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2C48D4-3582-43E8-8601-B801BDAB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DCB0-4F99-4366-8E49-20275D5812C1}" type="datetime1">
              <a:rPr lang="de-DE" smtClean="0"/>
              <a:t>31.01.26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C2B2E3-D1C4-4048-B373-4D508C35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427044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DA537-4899-4A43-9613-5D91DF15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Vorstellung </a:t>
            </a:r>
            <a:r>
              <a:rPr lang="de-DE" dirty="0" err="1"/>
              <a:t>Corba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10E1B-AE34-4BB7-A59E-7D465E852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AAAAAB+HelveticaNeue"/>
              </a:rPr>
              <a:t>Common Object Request Broker Architecture</a:t>
            </a:r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kein Protokoll im herkömmlichen Sinne,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Standard für eine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B+HelveticaNeue"/>
              </a:rPr>
              <a:t>Middlewarearchitektur</a:t>
            </a:r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unabhängig von Programmiersprache, Betriebssystem oder Hardwareplattform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basiert dabei auf TCP/IP</a:t>
            </a: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438E38-33F0-46B2-997E-BCA696668FA3}"/>
              </a:ext>
            </a:extLst>
          </p:cNvPr>
          <p:cNvSpPr txBox="1"/>
          <p:nvPr/>
        </p:nvSpPr>
        <p:spPr>
          <a:xfrm>
            <a:off x="838200" y="4265747"/>
            <a:ext cx="6097554" cy="150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Einsatzgebiete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Altsysteme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Echtzeit- und </a:t>
            </a:r>
            <a:r>
              <a:rPr lang="de-DE" dirty="0" err="1">
                <a:solidFill>
                  <a:srgbClr val="000000"/>
                </a:solidFill>
                <a:latin typeface="AAAAAB+HelveticaNeue"/>
              </a:rPr>
              <a:t>embedded</a:t>
            </a:r>
            <a:r>
              <a:rPr lang="de-DE" dirty="0">
                <a:solidFill>
                  <a:srgbClr val="000000"/>
                </a:solidFill>
                <a:latin typeface="AAAAAB+HelveticaNeue"/>
              </a:rPr>
              <a:t> Systeme (z.B. Luft- und Raumfahrt)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Heterogene und komplexe IT-Landschaft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B51504-9F51-4087-8352-909AAD81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B7CB4-2942-42F9-964F-8FE4ED0557DE}" type="datetime1">
              <a:rPr lang="de-DE" smtClean="0"/>
              <a:t>31.01.26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CDFB47-3A32-4C37-BAD9-EE63C399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416908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DA537-4899-4A43-9613-5D91DF15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Vorstellung MQTT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10E1B-AE34-4BB7-A59E-7D465E852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Message Queuing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Telemetry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Transport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schlankes, offenes Nachrichtenprotokoll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speziell für die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Machine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to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Machine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-Kommunikation im Internet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of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things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Ziel: effiziente Übertragung von Daten in Umgebungen mit begrenzter Bandbreite, hoher Latenz oder unzuverlässigen Netzwerkverbindungen</a:t>
            </a:r>
          </a:p>
          <a:p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8448F2-D820-4F07-9AE0-E46022583BF0}"/>
              </a:ext>
            </a:extLst>
          </p:cNvPr>
          <p:cNvSpPr txBox="1"/>
          <p:nvPr/>
        </p:nvSpPr>
        <p:spPr>
          <a:xfrm>
            <a:off x="838200" y="4265748"/>
            <a:ext cx="6097554" cy="150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Einsatzgebiete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SmartHome und Gebäudeautomatisierung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Telemetrie und Sensornetzwerke (z.B. Öl- und Gasindustrie)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Gesundheitswesen (Wearables)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9E2EEDA-8A5A-44BA-AE79-1E8488EAC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CD03-D624-41C8-84F5-3E28460DF4FC}" type="datetime1">
              <a:rPr lang="de-DE" smtClean="0"/>
              <a:t>31.01.26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76567DE-7E29-4BC8-B44E-584F01CE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398815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2C0B4-0F29-4992-B72E-09275BEC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Entscheidung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88FD2F-9D06-4A7F-9D84-D9573E630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Auswahl</a:t>
            </a:r>
          </a:p>
          <a:p>
            <a:r>
              <a:rPr lang="de-DE" dirty="0"/>
              <a:t>MQTT als Trägerprotokoll 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Begründung</a:t>
            </a:r>
          </a:p>
          <a:p>
            <a:r>
              <a:rPr lang="de-DE" dirty="0"/>
              <a:t>Hauptaugenmerk auf effiziente Nachrichtenübertragung</a:t>
            </a:r>
          </a:p>
          <a:p>
            <a:r>
              <a:rPr lang="de-DE" dirty="0"/>
              <a:t>mehr Berührungspunkte mit dem alltäglichen Leben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0418CD-8DB1-4620-9E6E-65D41830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245-EA88-41A7-8B39-A58C02FA4271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E830E1-A787-4F65-A6C3-DA3A813F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212293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D050D-5F06-A257-2B22-D331ED07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076F0598-CDE3-CA4F-B978-62A37A900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88601" y="1080191"/>
            <a:ext cx="9142824" cy="494826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6CD5A0D-EA7C-2372-FA42-61F2D8FD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5AF3D81F-8EC7-8E52-95A1-3D6D80776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8344-1871-4949-864A-AAC5D3FBBF8A}" type="datetime1">
              <a:rPr lang="de-DE" smtClean="0"/>
              <a:t>31.01.26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B8ECFFF5-FC02-C175-1B5D-54FA8E64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3841712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EA8C6044-531D-6416-965E-FC95CCF03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870" y="883277"/>
            <a:ext cx="9906100" cy="536136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A469807-0EBA-497A-A336-F748325D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 - Erweiterung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3DF9BB4-29C0-4E43-B838-4CC117C1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8344-1871-4949-864A-AAC5D3FBBF8A}" type="datetime1">
              <a:rPr lang="de-DE" smtClean="0"/>
              <a:t>31.01.26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D1B41125-AEED-4861-8AB6-F8C6E2A0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324725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EE30-BE7B-119F-2628-1C25D89B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B0E84-06A4-41E9-F11A-633A7588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 - Details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420B491D-A351-983B-A9B5-E5E95701C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8344-1871-4949-864A-AAC5D3FBBF8A}" type="datetime1">
              <a:rPr lang="de-DE" smtClean="0"/>
              <a:t>31.01.26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A136FCB2-9CFA-2150-5448-CF6E0737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05CAB93-31B3-FAB5-AE14-97BC27C6E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226" y="1470212"/>
            <a:ext cx="11935548" cy="452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3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nhaltsplatzhalter 28">
            <a:extLst>
              <a:ext uri="{FF2B5EF4-FFF2-40B4-BE49-F238E27FC236}">
                <a16:creationId xmlns:a16="http://schemas.microsoft.com/office/drawing/2014/main" id="{9298E425-29CB-B92C-FEF1-18369D238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65797" y="2057400"/>
            <a:ext cx="3268846" cy="24943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3" name="Titel 22">
            <a:extLst>
              <a:ext uri="{FF2B5EF4-FFF2-40B4-BE49-F238E27FC236}">
                <a16:creationId xmlns:a16="http://schemas.microsoft.com/office/drawing/2014/main" id="{29862885-120D-A35A-F484-178D43C7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8513532" cy="820757"/>
          </a:xfrm>
        </p:spPr>
        <p:txBody>
          <a:bodyPr>
            <a:noAutofit/>
          </a:bodyPr>
          <a:lstStyle/>
          <a:p>
            <a:r>
              <a:rPr lang="de-DE" sz="4400" dirty="0"/>
              <a:t>Systemdesign - Verantwortlichkeiten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3D334258-3E90-C9C5-179F-1414F1B36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6233041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Lauscht auf dem Command Channel auf Verbindungsanfragen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Bearbeitet Verbindungsanfragen von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Gibt Data Topic vor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Führt dynamische IP-Adressvergabe durch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Authentisiert sich im Verbindungsaufbau über ED25519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Verschlüsselt Traffic in Richtung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4D8DDB-6FA6-EC68-A277-C32DF0C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4892-0E1C-4F9C-A731-EDC947A1751A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4531F9-2C69-82F9-EECF-1F695C32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5995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8C935-1DC6-2416-DD1D-1B985271C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nhaltsplatzhalter 28">
            <a:extLst>
              <a:ext uri="{FF2B5EF4-FFF2-40B4-BE49-F238E27FC236}">
                <a16:creationId xmlns:a16="http://schemas.microsoft.com/office/drawing/2014/main" id="{66E0C3FA-E06A-159B-97B4-B5F702B9E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33032" y="2043953"/>
            <a:ext cx="3268846" cy="24943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3" name="Titel 22">
            <a:extLst>
              <a:ext uri="{FF2B5EF4-FFF2-40B4-BE49-F238E27FC236}">
                <a16:creationId xmlns:a16="http://schemas.microsoft.com/office/drawing/2014/main" id="{638B20B6-3AA1-AE0A-2492-42EBF952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8513532" cy="820757"/>
          </a:xfrm>
        </p:spPr>
        <p:txBody>
          <a:bodyPr>
            <a:noAutofit/>
          </a:bodyPr>
          <a:lstStyle/>
          <a:p>
            <a:r>
              <a:rPr lang="de-DE" sz="4400" dirty="0"/>
              <a:t>Systemdesign - Verantwortlichkeiten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566FAD5-8043-CA05-0F0D-BEE7C43FB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6233041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Initiiert Verbindungsaufbau auf Command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Wählt den Verbindungsmodus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Authentifiziert den Server sich im Verbindungsaufbau über ED25519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Nimmt Vorgaben des Servers zur Session entgegen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Verschlüsselt Traffic in Richtung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8504A5-7FEC-95A6-4F66-505DCAD9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4892-0E1C-4F9C-A731-EDC947A1751A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133F68-BF57-252D-1C1C-F798E9FA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98327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96501-87D1-4356-848E-3C181E3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18E4-A42B-423D-8800-05B9E5CB6930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E8BF5-96F8-4BB8-B5BC-0F25658E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5CD5E5-2556-42BC-9E09-3765C5091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871" y="1541248"/>
            <a:ext cx="5798377" cy="41317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 - Protokoll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72DA361-6837-4F71-83E0-DA6AE53F9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9963" cy="4351338"/>
          </a:xfrm>
        </p:spPr>
        <p:txBody>
          <a:bodyPr/>
          <a:lstStyle/>
          <a:p>
            <a:pPr marL="0" indent="0">
              <a:buNone/>
            </a:pPr>
            <a:r>
              <a:rPr lang="de-DE" sz="2000" b="1" i="0" u="none" strike="noStrike" baseline="0" dirty="0">
                <a:solidFill>
                  <a:srgbClr val="000000"/>
                </a:solidFill>
                <a:latin typeface="AAAAAB+HelveticaNeue"/>
              </a:rPr>
              <a:t>Verbindungsaufbau auf Command Channel</a:t>
            </a:r>
          </a:p>
          <a:p>
            <a:r>
              <a:rPr lang="de-DE" sz="2000" dirty="0" err="1">
                <a:solidFill>
                  <a:srgbClr val="000000"/>
                </a:solidFill>
                <a:latin typeface="AAAAAB+HelveticaNeue"/>
              </a:rPr>
              <a:t>ClientHelloCrypto</a:t>
            </a:r>
            <a:r>
              <a:rPr lang="de-DE" sz="2000" dirty="0">
                <a:solidFill>
                  <a:srgbClr val="000000"/>
                </a:solidFill>
                <a:latin typeface="AAAAAB+HelveticaNeue"/>
              </a:rPr>
              <a:t> / </a:t>
            </a:r>
            <a:r>
              <a:rPr lang="de-DE" sz="2000" dirty="0" err="1">
                <a:solidFill>
                  <a:srgbClr val="000000"/>
                </a:solidFill>
                <a:latin typeface="AAAAAB+HelveticaNeue"/>
              </a:rPr>
              <a:t>ServerHelloCrypto</a:t>
            </a:r>
            <a:r>
              <a:rPr lang="de-DE" sz="2000" dirty="0">
                <a:solidFill>
                  <a:srgbClr val="000000"/>
                </a:solidFill>
                <a:latin typeface="AAAAAB+HelveticaNeue"/>
              </a:rPr>
              <a:t> für X25519 und ED25519</a:t>
            </a:r>
          </a:p>
          <a:p>
            <a:r>
              <a:rPr lang="de-DE" sz="2000" dirty="0" err="1">
                <a:solidFill>
                  <a:srgbClr val="000000"/>
                </a:solidFill>
                <a:latin typeface="AAAAAB+HelveticaNeue"/>
              </a:rPr>
              <a:t>ClientHello</a:t>
            </a:r>
            <a:r>
              <a:rPr lang="de-DE" sz="2000" dirty="0">
                <a:solidFill>
                  <a:srgbClr val="000000"/>
                </a:solidFill>
                <a:latin typeface="AAAAAB+HelveticaNeue"/>
              </a:rPr>
              <a:t> als Session-Anfrage</a:t>
            </a:r>
          </a:p>
          <a:p>
            <a:r>
              <a:rPr lang="de-DE" sz="2000" dirty="0" err="1">
                <a:solidFill>
                  <a:srgbClr val="000000"/>
                </a:solidFill>
                <a:latin typeface="AAAAAB+HelveticaNeue"/>
              </a:rPr>
              <a:t>ServerHello</a:t>
            </a:r>
            <a:r>
              <a:rPr lang="de-DE" sz="2000" dirty="0">
                <a:solidFill>
                  <a:srgbClr val="000000"/>
                </a:solidFill>
                <a:latin typeface="AAAAAB+HelveticaNeue"/>
              </a:rPr>
              <a:t> als Session-Konfiguration</a:t>
            </a:r>
          </a:p>
          <a:p>
            <a:r>
              <a:rPr lang="de-DE" sz="2000" dirty="0" err="1">
                <a:solidFill>
                  <a:srgbClr val="000000"/>
                </a:solidFill>
                <a:latin typeface="AAAAAB+HelveticaNeue"/>
              </a:rPr>
              <a:t>ClientACK</a:t>
            </a:r>
            <a:r>
              <a:rPr lang="de-DE" sz="2000" dirty="0">
                <a:solidFill>
                  <a:srgbClr val="000000"/>
                </a:solidFill>
                <a:latin typeface="AAAAAB+HelveticaNeue"/>
              </a:rPr>
              <a:t> als Bestätigung der Session-Konfiguration</a:t>
            </a:r>
          </a:p>
          <a:p>
            <a:r>
              <a:rPr lang="de-DE" sz="2000" dirty="0" err="1">
                <a:solidFill>
                  <a:srgbClr val="000000"/>
                </a:solidFill>
                <a:latin typeface="AAAAAB+HelveticaNeue"/>
              </a:rPr>
              <a:t>ServerACK</a:t>
            </a:r>
            <a:r>
              <a:rPr lang="de-DE" sz="2000" dirty="0">
                <a:solidFill>
                  <a:srgbClr val="000000"/>
                </a:solidFill>
                <a:latin typeface="AAAAAB+HelveticaNeue"/>
              </a:rPr>
              <a:t> als Bestätigung der Session</a:t>
            </a: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Wenn Verschlüsselung angewählt ist, findet auch der Handshake verschlüsselt statt.</a:t>
            </a:r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</p:txBody>
      </p:sp>
    </p:spTree>
    <p:extLst>
      <p:ext uri="{BB962C8B-B14F-4D97-AF65-F5344CB8AC3E}">
        <p14:creationId xmlns:p14="http://schemas.microsoft.com/office/powerpoint/2010/main" val="425200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2849-E9D6-D7EF-C835-1FB322545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6D1CAB-1C05-D5C2-20C2-0C1D91DC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18E4-A42B-423D-8800-05B9E5CB6930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6D1D4F-756C-87D3-9823-40620F1D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F83E34D-BEDB-1EE5-E94C-B2C8CD42D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 - Protokoll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EBFC4BEB-EE5F-1DD4-6390-FCCBFAA29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156240"/>
            <a:ext cx="10515600" cy="369010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238A58B-C6DD-D144-77F4-77DFD1DA25B6}"/>
              </a:ext>
            </a:extLst>
          </p:cNvPr>
          <p:cNvSpPr txBox="1"/>
          <p:nvPr/>
        </p:nvSpPr>
        <p:spPr>
          <a:xfrm>
            <a:off x="838200" y="1518227"/>
            <a:ext cx="5608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Key Exchange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2175699-5075-8BE6-9BBC-FA1007E3099A}"/>
              </a:ext>
            </a:extLst>
          </p:cNvPr>
          <p:cNvSpPr txBox="1"/>
          <p:nvPr/>
        </p:nvSpPr>
        <p:spPr>
          <a:xfrm>
            <a:off x="8549695" y="5846347"/>
            <a:ext cx="5608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Variablennamen sind z.T. verkürzt!</a:t>
            </a:r>
          </a:p>
        </p:txBody>
      </p:sp>
    </p:spTree>
    <p:extLst>
      <p:ext uri="{BB962C8B-B14F-4D97-AF65-F5344CB8AC3E}">
        <p14:creationId xmlns:p14="http://schemas.microsoft.com/office/powerpoint/2010/main" val="516016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C9B3F-6387-BAF4-DEEF-C674F69FA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D06C95BD-CA2F-B639-CADC-C9BE1AC98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2588" y="1268263"/>
            <a:ext cx="8086824" cy="49166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D47360-B056-E4F0-AE0F-AAD88E73E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18E4-A42B-423D-8800-05B9E5CB6930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86A1A3-ABD0-1E9E-9AA1-531201E3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0DBAB-B08D-319D-F739-1B3605A00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 - Protokoll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443AF29-7A8F-B7AE-0009-900DA358DD00}"/>
              </a:ext>
            </a:extLst>
          </p:cNvPr>
          <p:cNvSpPr txBox="1"/>
          <p:nvPr/>
        </p:nvSpPr>
        <p:spPr>
          <a:xfrm>
            <a:off x="838200" y="1518227"/>
            <a:ext cx="5608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Session Handshake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BA12AAB-E2B6-19B2-3C66-F3FC3B7908C2}"/>
              </a:ext>
            </a:extLst>
          </p:cNvPr>
          <p:cNvSpPr txBox="1"/>
          <p:nvPr/>
        </p:nvSpPr>
        <p:spPr>
          <a:xfrm>
            <a:off x="8549695" y="5846347"/>
            <a:ext cx="5608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Variablennamen sind </a:t>
            </a:r>
            <a:r>
              <a:rPr lang="de-DE" sz="1600" dirty="0" err="1"/>
              <a:t>z.T</a:t>
            </a:r>
            <a:r>
              <a:rPr lang="de-DE" sz="1600" dirty="0"/>
              <a:t> verkürzt!</a:t>
            </a:r>
          </a:p>
        </p:txBody>
      </p:sp>
    </p:spTree>
    <p:extLst>
      <p:ext uri="{BB962C8B-B14F-4D97-AF65-F5344CB8AC3E}">
        <p14:creationId xmlns:p14="http://schemas.microsoft.com/office/powerpoint/2010/main" val="1137141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FCE1-3898-2CE8-140D-3AA761C9C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CCB8EC6F-2847-AECB-75E5-417AC213D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9087" y="1825625"/>
            <a:ext cx="8293825" cy="43513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89E645-68B1-A3BB-451F-3EB16E551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18E4-A42B-423D-8800-05B9E5CB6930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EC42F-DE25-7E86-5721-4311905C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14A679-8D63-EC7F-C007-0CA28214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 - Protokoll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E1BBCC0-8C46-78B0-3139-A71E8895A156}"/>
              </a:ext>
            </a:extLst>
          </p:cNvPr>
          <p:cNvSpPr txBox="1"/>
          <p:nvPr/>
        </p:nvSpPr>
        <p:spPr>
          <a:xfrm>
            <a:off x="838200" y="1518227"/>
            <a:ext cx="5608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Session Handshake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7B6C2C4-7793-BA0E-21B9-F7BB24F597C9}"/>
              </a:ext>
            </a:extLst>
          </p:cNvPr>
          <p:cNvSpPr txBox="1"/>
          <p:nvPr/>
        </p:nvSpPr>
        <p:spPr>
          <a:xfrm>
            <a:off x="8549695" y="5846347"/>
            <a:ext cx="5608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Variablennamen sind </a:t>
            </a:r>
            <a:r>
              <a:rPr lang="de-DE" sz="1600" dirty="0" err="1"/>
              <a:t>z.T</a:t>
            </a:r>
            <a:r>
              <a:rPr lang="de-DE" sz="1600" dirty="0"/>
              <a:t> verkürzt!</a:t>
            </a:r>
          </a:p>
        </p:txBody>
      </p:sp>
    </p:spTree>
    <p:extLst>
      <p:ext uri="{BB962C8B-B14F-4D97-AF65-F5344CB8AC3E}">
        <p14:creationId xmlns:p14="http://schemas.microsoft.com/office/powerpoint/2010/main" val="36701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 - Architektur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2BAC4CF-11E3-4AF6-A930-E905402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88FDA-B727-4F12-B85E-168EB59E4813}" type="datetime1">
              <a:rPr lang="de-DE" smtClean="0"/>
              <a:t>31.01.26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C021D9C-4CEB-4B8C-9F37-9236E954D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D0A5EC7-1267-7634-4B70-402A8FAA11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b="7909"/>
          <a:stretch/>
        </p:blipFill>
        <p:spPr>
          <a:xfrm>
            <a:off x="838200" y="1864607"/>
            <a:ext cx="5814391" cy="3975819"/>
          </a:xfrm>
          <a:prstGeom prst="rect">
            <a:avLst/>
          </a:prstGeom>
        </p:spPr>
      </p:pic>
      <p:pic>
        <p:nvPicPr>
          <p:cNvPr id="11" name="Inhaltsplatzhalter 28">
            <a:extLst>
              <a:ext uri="{FF2B5EF4-FFF2-40B4-BE49-F238E27FC236}">
                <a16:creationId xmlns:a16="http://schemas.microsoft.com/office/drawing/2014/main" id="{8F6F6C3C-3B19-AE30-072E-D8AA96232C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048500" y="2543175"/>
            <a:ext cx="3644900" cy="2781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24748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4383C-356A-3A21-8916-896C9F0BB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D422C-FFEB-30F5-667C-E99AFDB6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 - Architektur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97E33EF-AD96-E77B-7C44-D5790EDF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88FDA-B727-4F12-B85E-168EB59E4813}" type="datetime1">
              <a:rPr lang="de-DE" smtClean="0"/>
              <a:t>31.01.26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B75D92D-037B-4EB7-AC69-84103A64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11" name="Inhaltsplatzhalter 28">
            <a:extLst>
              <a:ext uri="{FF2B5EF4-FFF2-40B4-BE49-F238E27FC236}">
                <a16:creationId xmlns:a16="http://schemas.microsoft.com/office/drawing/2014/main" id="{F17FE391-374F-6F6B-B8C7-ABBBA5AA42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48500" y="2543175"/>
            <a:ext cx="3644900" cy="2781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A7C115D-DC64-6A82-AA0C-B65B098904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1964983"/>
            <a:ext cx="5181600" cy="407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2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Softwareaufruf -Argument List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96501-87D1-4356-848E-3C181E3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B71F-3F7C-4162-929C-C22603ED74BB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E8BF5-96F8-4BB8-B5BC-0F25658E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5DDF49C7-39E4-8B90-D3E5-E3E815A5B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287" y="1981481"/>
            <a:ext cx="9833825" cy="384929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8029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9D058-CBBB-1585-188E-205F413B2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6B5513-A59E-52C2-D260-153A5C9A1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Softwareaufruf – Server Start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FC3622-BBE9-97D9-CC82-68174FABF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B71F-3F7C-4162-929C-C22603ED74BB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D149B0-D8D1-6FFC-2685-3A7E50CB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6E6F36C9-7778-4342-770A-D2485BB62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70581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61ED4CF-F36B-631C-2E5B-B226AD4D7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743008"/>
            <a:ext cx="10515599" cy="255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0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0E35-143A-2160-A6E0-26D80D22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29D380-A413-170E-2049-48BF91C3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Softwareaufruf – Client Connect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5B2DE-B572-296E-C644-F972BB53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B71F-3F7C-4162-929C-C22603ED74BB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056967-7164-8F19-D894-0C967B25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16" name="Inhaltsplatzhalter 15">
            <a:extLst>
              <a:ext uri="{FF2B5EF4-FFF2-40B4-BE49-F238E27FC236}">
                <a16:creationId xmlns:a16="http://schemas.microsoft.com/office/drawing/2014/main" id="{462B5ADF-9EDF-E5E3-5899-1B6BD2E46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38400"/>
            <a:ext cx="105156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05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694F-8C8C-B75E-543A-28037089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haltsplatzhalter 15">
            <a:extLst>
              <a:ext uri="{FF2B5EF4-FFF2-40B4-BE49-F238E27FC236}">
                <a16:creationId xmlns:a16="http://schemas.microsoft.com/office/drawing/2014/main" id="{89F4D3F1-360E-D937-EEC1-95F4A1CEB4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524000" y="1136549"/>
            <a:ext cx="9144000" cy="45849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60B489-244F-4F39-A9F3-EE94E6E9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Softwareaufruf – Live Beispiele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BBE7A2CF-206B-D658-3583-05C8FEA37F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Beispiel A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279463-720B-483C-484F-598754AD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B71F-3F7C-4162-929C-C22603ED74BB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5A1C14-7283-B03A-1E66-B22C3308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3659592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6606-E5A8-1B63-746A-859FB1D9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4BE3F-FF3A-A032-8185-28BD57D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Softwareaufruf – Live Beispiele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F246E4E6-DB39-96D7-C173-37010EB8A1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Beispiel B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112258-A450-CA1E-5724-DEF8E0A8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B71F-3F7C-4162-929C-C22603ED74BB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A91CBC-2086-5033-5C54-84D549899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015422A8-96E1-C0B2-3EE9-F7DAB720CA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529774" y="2262684"/>
            <a:ext cx="9450787" cy="391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5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5E411-E1CE-49D1-9EB9-B7EFFE1A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Testszenarien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3600FA-3D6B-49F8-B5A5-8B73EA18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Tests und Analyse</a:t>
            </a:r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B+HelveticaNeue"/>
              </a:rPr>
              <a:t>Funktionale Tests des MQTT-Tunnels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B+HelveticaNeue"/>
              </a:rPr>
              <a:t>Performance- und Latenzmessungen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Vergleich</a:t>
            </a:r>
          </a:p>
          <a:p>
            <a:pPr lvl="2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Baseline (ohne Verschlüsselung)</a:t>
            </a:r>
          </a:p>
          <a:p>
            <a:pPr lvl="2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Secure (mit Ende-zu-Ende-Verschlüsselung)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Testumgebung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Tunnel-Client und Tunnel-Server auf getrennten VMs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Kommunikation ausschließlich über MQTT-Broker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IP-Verkehr über virtuelles TUN-Interface (tun0)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Analyse mittels </a:t>
            </a:r>
            <a:r>
              <a:rPr lang="de-DE" sz="1600" dirty="0" err="1">
                <a:solidFill>
                  <a:srgbClr val="000000"/>
                </a:solidFill>
                <a:latin typeface="AAAAAB+HelveticaNeue"/>
              </a:rPr>
              <a:t>tcpdump</a:t>
            </a:r>
            <a:endParaRPr lang="de-DE" sz="1600" dirty="0">
              <a:solidFill>
                <a:srgbClr val="000000"/>
              </a:solidFill>
              <a:latin typeface="AAAAAB+HelveticaNeue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37DC6F-2654-4C98-9EAC-D8183881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EC21FF-0FE5-472D-810E-575D5D15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1960364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6609F-1E46-E20B-C8E1-C690A26F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1B8AAC-A998-7AE6-80B0-1B31730D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Funktionale Tests (Test 1)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75DE35-FB03-246C-84D3-219D41F8E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>
                <a:solidFill>
                  <a:srgbClr val="000000"/>
                </a:solidFill>
                <a:latin typeface="AAAAAB+HelveticaNeue"/>
              </a:rPr>
              <a:t>Test 1: Erreichbarkeit über den Tunnel</a:t>
            </a: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Ziel: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Überprüfung der grundlegenden Tunnel-Funktion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Vorgehen: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ICMP-Ping vom Tunnel-Client zur Tunnel-IP des Servers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Ergebnis: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ICMP-Pakete werden korrekt über den Tunnel übertragen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Tunnel ist funktionsfähig auf IP-Ebene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192744-CEDB-52FE-B675-FE84E100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E6240A-3276-42B7-30FA-267E9EB1C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Inhaltsplatzhalter 7">
            <a:extLst>
              <a:ext uri="{FF2B5EF4-FFF2-40B4-BE49-F238E27FC236}">
                <a16:creationId xmlns:a16="http://schemas.microsoft.com/office/drawing/2014/main" id="{358D413D-0040-638B-4E04-C1C471A5F97A}"/>
              </a:ext>
            </a:extLst>
          </p:cNvPr>
          <p:cNvSpPr txBox="1">
            <a:spLocks/>
          </p:cNvSpPr>
          <p:nvPr/>
        </p:nvSpPr>
        <p:spPr>
          <a:xfrm>
            <a:off x="6096000" y="3407229"/>
            <a:ext cx="5002375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600" b="0" i="0" u="none" strike="noStrike" baseline="0" dirty="0">
                <a:solidFill>
                  <a:srgbClr val="4270C4"/>
                </a:solidFill>
                <a:latin typeface="AAAAAB+HelveticaNeue"/>
              </a:rPr>
              <a:t>Ping 10.0.0.1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682260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C875-063F-B8D3-59CC-2883EF55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CC62DF-AA3D-573D-64CD-D75C004F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Funktionale Tests (Test 2)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C12912-D16D-B7EA-4557-53096FA62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>
                <a:solidFill>
                  <a:srgbClr val="000000"/>
                </a:solidFill>
                <a:latin typeface="AAAAAB+HelveticaNeue"/>
              </a:rPr>
              <a:t>Test 2: TCP-Kommunikation über den Tunnel</a:t>
            </a: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Ziel: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Überprüfung transparenter TCP-Kommunikation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Vorgehen: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TCP-</a:t>
            </a:r>
            <a:r>
              <a:rPr lang="de-DE" sz="1400" dirty="0" err="1">
                <a:solidFill>
                  <a:srgbClr val="000000"/>
                </a:solidFill>
                <a:latin typeface="AAAAAB+HelveticaNeue"/>
              </a:rPr>
              <a:t>Listener</a:t>
            </a:r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 auf dem Server (</a:t>
            </a:r>
            <a:r>
              <a:rPr lang="de-DE" sz="1400" dirty="0" err="1">
                <a:solidFill>
                  <a:srgbClr val="000000"/>
                </a:solidFill>
                <a:latin typeface="AAAAAB+HelveticaNeue"/>
              </a:rPr>
              <a:t>netcat</a:t>
            </a:r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)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Aufbau einer TCP-Verbindung über den Tunnel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Übertragung einer Testnachricht 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Ergebnis: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TCP-Verbindung erfolgreich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Nutzdaten werden korrekt übertragen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1C0E40-353E-EA1B-D485-C8138C7E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FF8619-EB71-2C11-CE1A-06AEA9CAC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ECF0DA2-9593-1483-E0EC-B8B95984A533}"/>
              </a:ext>
            </a:extLst>
          </p:cNvPr>
          <p:cNvSpPr txBox="1">
            <a:spLocks/>
          </p:cNvSpPr>
          <p:nvPr/>
        </p:nvSpPr>
        <p:spPr>
          <a:xfrm>
            <a:off x="5499229" y="3419978"/>
            <a:ext cx="5002375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800" b="0" i="0" u="none" strike="noStrike" baseline="0" dirty="0" err="1">
                <a:solidFill>
                  <a:srgbClr val="4270C4"/>
                </a:solidFill>
                <a:latin typeface="AAAAAB+HelveticaNeue"/>
              </a:rPr>
              <a:t>nc</a:t>
            </a:r>
            <a:r>
              <a:rPr lang="de-DE" sz="1800" b="0" i="0" u="none" strike="noStrike" baseline="0" dirty="0">
                <a:solidFill>
                  <a:srgbClr val="4270C4"/>
                </a:solidFill>
                <a:latin typeface="AAAAAB+HelveticaNeue"/>
              </a:rPr>
              <a:t> -I -p 12345</a:t>
            </a:r>
            <a:endParaRPr lang="de-DE" sz="1200" dirty="0"/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FF516FBA-5E82-1A90-478B-D58B6973CB36}"/>
              </a:ext>
            </a:extLst>
          </p:cNvPr>
          <p:cNvSpPr txBox="1">
            <a:spLocks/>
          </p:cNvSpPr>
          <p:nvPr/>
        </p:nvSpPr>
        <p:spPr>
          <a:xfrm>
            <a:off x="5499228" y="3964490"/>
            <a:ext cx="5002376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800" b="0" i="0" u="none" strike="noStrike" baseline="0" dirty="0" err="1">
                <a:solidFill>
                  <a:srgbClr val="034FAD"/>
                </a:solidFill>
                <a:latin typeface="AAAAAB+HelveticaNeue"/>
              </a:rPr>
              <a:t>printf</a:t>
            </a:r>
            <a:r>
              <a:rPr lang="de-DE" sz="1800" b="0" i="0" u="none" strike="noStrike" baseline="0" dirty="0">
                <a:solidFill>
                  <a:srgbClr val="034FAD"/>
                </a:solidFill>
                <a:latin typeface="AAAAAB+HelveticaNeue"/>
              </a:rPr>
              <a:t> </a:t>
            </a:r>
            <a:r>
              <a:rPr lang="de-DE" sz="1800" b="0" i="0" u="none" strike="noStrike" baseline="0" dirty="0">
                <a:solidFill>
                  <a:srgbClr val="082E67"/>
                </a:solidFill>
                <a:latin typeface="AAAAAB+HelveticaNeue"/>
              </a:rPr>
              <a:t>'%s\n' 'TESTNACHRICHT' </a:t>
            </a:r>
            <a:r>
              <a:rPr lang="de-DE" sz="1800" b="0" i="0" u="none" strike="noStrike" baseline="0" dirty="0">
                <a:solidFill>
                  <a:srgbClr val="CF202C"/>
                </a:solidFill>
                <a:latin typeface="AAAAAB+HelveticaNeue"/>
              </a:rPr>
              <a:t>| </a:t>
            </a:r>
            <a:r>
              <a:rPr lang="de-DE" sz="1800" b="0" i="0" u="none" strike="noStrike" baseline="0" dirty="0" err="1">
                <a:solidFill>
                  <a:srgbClr val="4270C4"/>
                </a:solidFill>
                <a:latin typeface="AAAAAB+HelveticaNeue"/>
              </a:rPr>
              <a:t>nc</a:t>
            </a:r>
            <a:r>
              <a:rPr lang="de-DE" sz="1800" b="0" i="0" u="none" strike="noStrike" baseline="0" dirty="0">
                <a:solidFill>
                  <a:srgbClr val="4270C4"/>
                </a:solidFill>
                <a:latin typeface="AAAAAB+HelveticaNeue"/>
              </a:rPr>
              <a:t> 10.0.0.1 12345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131682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8173-A317-14CA-B07D-616E6E86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F6696-4F5A-379C-B5FD-927EAEF7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Performance &amp; Latenz (Überblick)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535324-D867-397A-C099-5F8024A5B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Messwerkzeug: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iperf3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Untersuchte Metriken: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TCP-Durchsatz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UDP-Durchsatz</a:t>
            </a:r>
          </a:p>
          <a:p>
            <a:pPr lvl="1"/>
            <a:r>
              <a:rPr lang="de-DE" sz="1400" dirty="0" err="1">
                <a:solidFill>
                  <a:srgbClr val="000000"/>
                </a:solidFill>
                <a:latin typeface="AAAAAB+HelveticaNeue"/>
              </a:rPr>
              <a:t>Jitter</a:t>
            </a:r>
            <a:endParaRPr lang="de-DE" sz="1400" dirty="0">
              <a:solidFill>
                <a:srgbClr val="000000"/>
              </a:solidFill>
              <a:latin typeface="AAAAAB+HelveticaNeue"/>
            </a:endParaRP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Paketverlust</a:t>
            </a: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Vergleich: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Baseline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Secure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F9B723-75FE-2074-8589-90D1C5A1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379D51-CFCB-B53C-843B-D1B6880F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1493864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048A-822A-E7A3-943E-2D1892E8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C084C-B51A-64F1-3FE4-2DDA00EF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TCP-Durchsatz</a:t>
            </a: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D2A55BB5-6367-435C-AF83-36AC1B6A69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718542"/>
              </p:ext>
            </p:extLst>
          </p:nvPr>
        </p:nvGraphicFramePr>
        <p:xfrm>
          <a:off x="838200" y="1825625"/>
          <a:ext cx="4925291" cy="3700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1444D9-BE75-64A7-EE32-30648D2E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8D828E-A80A-903E-44D0-73F97813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7D751BE2-B524-226E-2DC6-E77FBB2C8F0D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Interpretation: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Verschlüsselung verursacht moderaten Overhead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Durchsatz primär durch MQTT-Transport limitiert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sz="1200" dirty="0">
              <a:solidFill>
                <a:srgbClr val="000000"/>
              </a:solidFill>
              <a:latin typeface="AAAAAB+HelveticaNeue"/>
            </a:endParaRPr>
          </a:p>
        </p:txBody>
      </p:sp>
    </p:spTree>
    <p:extLst>
      <p:ext uri="{BB962C8B-B14F-4D97-AF65-F5344CB8AC3E}">
        <p14:creationId xmlns:p14="http://schemas.microsoft.com/office/powerpoint/2010/main" val="760931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CFFB-EC30-37F8-1CDC-4E3C46A6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9FB25-1798-1ED4-A836-20670B1D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TCP-Durchsatz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77BAF8-9A44-CBE1-BD97-268CB02B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88A7A5-C037-0638-53FD-30800DC5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4C75402A-E51E-C965-EC81-12735A53462F}"/>
              </a:ext>
            </a:extLst>
          </p:cNvPr>
          <p:cNvSpPr txBox="1">
            <a:spLocks/>
          </p:cNvSpPr>
          <p:nvPr/>
        </p:nvSpPr>
        <p:spPr>
          <a:xfrm>
            <a:off x="6391563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Interpretation: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Verschlüsselung verursacht moderaten Overhead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Durchsatz primär durch MQTT-Transport limitiert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sz="1200" dirty="0">
              <a:solidFill>
                <a:srgbClr val="000000"/>
              </a:solidFill>
              <a:latin typeface="AAAAAB+HelveticaNeue"/>
            </a:endParaRP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08C267A6-0818-BB4F-0BF2-CA1CCD68A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970859"/>
              </p:ext>
            </p:extLst>
          </p:nvPr>
        </p:nvGraphicFramePr>
        <p:xfrm>
          <a:off x="838198" y="1825625"/>
          <a:ext cx="5461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346961268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3814551690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1573257764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3173738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Zielrate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Modus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Paketverlust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Jitter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18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~ 1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13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1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098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2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039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2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10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~ 38 %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0,7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23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10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~ 23 %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1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575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146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0EC3-9EF7-C80B-8693-304F5B27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F2387-63AA-0F25-C7B3-717CFB38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Einordnung der Ergebnisse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685C55-EBCF-3A4F-E9B2-2106819C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A5782-9997-45B5-7337-DC4D321E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A8A3CF0-0CFB-1041-EA64-8C54E41EF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Einordnung: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Tunnel funktioniert korrekt für ICMP, TCP und UDP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Performance deutlich geringer als natives Netzwerk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Hauptlimitierung: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MQTT-Overhead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Hohe Nachrichtenfrequenz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Verschlüsselung: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Messbarer, aber nicht dominanter Einfluss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Fazit: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Geeignet für: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Geringe bis mittlere Datenraten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Szenarien mit Fokus auf Kapselung und Tarnung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Nicht geeignet für Hochdurchsatz-Anforderungen</a:t>
            </a:r>
          </a:p>
        </p:txBody>
      </p:sp>
    </p:spTree>
    <p:extLst>
      <p:ext uri="{BB962C8B-B14F-4D97-AF65-F5344CB8AC3E}">
        <p14:creationId xmlns:p14="http://schemas.microsoft.com/office/powerpoint/2010/main" val="2125197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FDA52-3A66-4EB7-ACBC-F2BE2EE5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131D16-DE72-4E07-A08F-F0EB39CC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MQTT eignet sich als Tunnel für beliebigen Layer 3 Traffic</a:t>
            </a:r>
          </a:p>
          <a:p>
            <a:r>
              <a:rPr lang="de-DE" dirty="0"/>
              <a:t>Implementierung mitunter komplex</a:t>
            </a:r>
          </a:p>
          <a:p>
            <a:r>
              <a:rPr lang="de-DE" dirty="0"/>
              <a:t>Wechselwirkung mit Routingtabelle herausfordernd</a:t>
            </a:r>
          </a:p>
          <a:p>
            <a:r>
              <a:rPr lang="de-DE" dirty="0"/>
              <a:t>Packet Splitting als mögliche Ursache für Latenz =&gt; ggf. dedizierte Segmentation Logik als Lösung</a:t>
            </a:r>
          </a:p>
          <a:p>
            <a:r>
              <a:rPr lang="de-DE" dirty="0" err="1"/>
              <a:t>Codebase</a:t>
            </a:r>
            <a:r>
              <a:rPr lang="de-DE" dirty="0"/>
              <a:t> benötigt </a:t>
            </a:r>
            <a:r>
              <a:rPr lang="de-DE" dirty="0" err="1"/>
              <a:t>Refactoring</a:t>
            </a:r>
            <a:endParaRPr lang="de-DE" dirty="0"/>
          </a:p>
          <a:p>
            <a:r>
              <a:rPr lang="de-DE" dirty="0"/>
              <a:t>Tunnel sollte noch weiter stabilisiert werden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00667A-EBC3-4430-8719-4B3FB9EB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73E98-CAB5-4576-A185-F6EEF26D0B57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88E5B4-7D4A-4335-8548-29985101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1771292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346EEE-2633-4E48-B75E-EC142BBFA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6F13D3-224E-40B1-BC2E-EC0C4006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08CC-F304-4AD7-81CF-0B44FE19C74A}" type="datetime1">
              <a:rPr lang="de-DE" smtClean="0"/>
              <a:t>31.01.26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AF3148-2D62-4259-853A-D152067E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BEA9473-D9B5-40A0-9651-4714F110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5259C9D-04EB-47EE-96C4-056FE5B17997}"/>
              </a:ext>
            </a:extLst>
          </p:cNvPr>
          <p:cNvSpPr/>
          <p:nvPr/>
        </p:nvSpPr>
        <p:spPr>
          <a:xfrm>
            <a:off x="3422223" y="2260325"/>
            <a:ext cx="53475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de-DE" sz="8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Bei Fragen, fragen</a:t>
            </a:r>
          </a:p>
        </p:txBody>
      </p:sp>
    </p:spTree>
    <p:extLst>
      <p:ext uri="{BB962C8B-B14F-4D97-AF65-F5344CB8AC3E}">
        <p14:creationId xmlns:p14="http://schemas.microsoft.com/office/powerpoint/2010/main" val="2522743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9E281-7294-48A6-8FA7-813E056D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1522C8-61ED-4E27-8E85-733B3617C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https://docs.oracle.com/cd/A97335_02/apps.102/a83722/overvie3.htm#1014532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https://www.ibm.com/docs/en/app-connect/11.0.0?topic=corba-common-object-request-broker-architecture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https://refubium.fu-berlin.de/bitstream/handle/fub188/4102/12_chap12.pdf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https://learn.microsoK.com/de-de/dotnet/standard/naLve-interop/type-marshalling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https://www-ois-com.translate.goog/index.php/about-corba/? 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x_tr_sl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=en&amp;_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x_tr_tl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x_tr_hl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x_tr_pto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sge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#:~:text=CORBA%20is%20the%20world's%20leading,programm ing%20languages%2C%20and%20operating%20systems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N+TimesNewRomanPSMT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https://www.elpassion.com/de/glossary/what-is-common-object-request-broker-architecture-corba#:~: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=Eine%20der%20Hauptfunktionen%20von%20CORBA%20(%20Common,zwischen%20verschiedenen%2 0Plattformen%20und%20Programmiersprachen%20zu%20unterst%C3%BCtzen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N+TimesNewRomanPSMT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https://www.omg.org/corba/faq.htm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https://hilfe.comarch.de/cee/index.php/documentation/corba-schnittstelle/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https://www.arl.wustl.edu/PublicaLons/2000-04/comp00fgk.pdf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https://umu.diva-portal.org/smash/get/diva2:1987951/FULLTEXT01.pdf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https://docs.oasis-open.org/mq$/mq$/v5.0/mq$-v5.0.html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https://iot.telekom.com/de/blog/mq$-protokoll-funkLonsweise-anwendungen-und-vorteile-im-iot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https://www.opc-router.de/was-ist-mq$/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https://aws-amazon-com.translate.goog/what-is/mq$/? 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x_tr_sl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=en&amp;_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x_tr_tl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x_tr_hl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x_tr_pto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sge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#:~:text=Smart%20sensors%2C%20wearables%2C%20and%20oth er,can%20communicate%20IoT%20data%20efficiently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Q+Calibri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https://www.all-electronics.de/automaLsierung/basiswissen-mq$-was-kann-das-iot-kommunikaLons-protokoll/ 700581#:~: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=Antwort%205:%20MQTT%20verwendet%20QoS%2DModi%2C%20um%20die,QoS%2DStufen: %200%2C%201%20und%202%2C%20die%20verschiedene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https://www.pubnub.com/blog/what-is-mq$-use-cases/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https://www.ibm.com/docs/de/ibm-mq/9.3.x?topic=overview-mq-telemetry-transport-protocol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http://www.bbs-1.de/bbs1/umat/netze/netz8.html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https://www.kernel.org/doc/html/latest/networking/tuntap.html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https://www.researchgate.net/publicaLon/317391853_IoT_real_Lme_data_acquisiLon_using_MQTT_protocol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EvaluaLon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of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MQTT Bridge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Architectures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in a Cross-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OrganizaLonal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Context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von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Keila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Lima,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Tosin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Daniel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Oyetoyan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,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Rogardt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Heldal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, Wilhelm Hasselbring aus 01/2025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https://www.emqx.com/en/blog/mq$5-new-features-payload-format-indicator-and-content-type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https://mymq$.app/de/mq$-qos-levels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</a:t>
            </a:r>
            <a:r>
              <a:rPr lang="de-DE" sz="1800" dirty="0">
                <a:solidFill>
                  <a:srgbClr val="0000FF"/>
                </a:solidFill>
                <a:latin typeface="AAAAAQ+Calibri"/>
              </a:rPr>
              <a:t>tt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ps://phoenixnap.de/Glossar/Idle-Bedeutung 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BE3CD-0CE0-49DE-8D55-6C125CC1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131BF-7724-4913-869B-5D2E814B684B}" type="datetime1">
              <a:rPr lang="de-DE" smtClean="0"/>
              <a:t>31.01.26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4BBA98-4892-4468-9342-5A81ECF5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120435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2073</Words>
  <Application>Microsoft Macintosh PowerPoint</Application>
  <PresentationFormat>Breitbild</PresentationFormat>
  <Paragraphs>315</Paragraphs>
  <Slides>31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8" baseType="lpstr">
      <vt:lpstr>AAAAAB+HelveticaNeue</vt:lpstr>
      <vt:lpstr>AAAAAN+TimesNewRomanPSMT</vt:lpstr>
      <vt:lpstr>AAAAAQ+Calibri</vt:lpstr>
      <vt:lpstr>Arial</vt:lpstr>
      <vt:lpstr>Calibri</vt:lpstr>
      <vt:lpstr>Calibri Light</vt:lpstr>
      <vt:lpstr>Office Theme</vt:lpstr>
      <vt:lpstr>Tunneln von Nachrichten innerhalb von Messagebroker basierten Protokollen</vt:lpstr>
      <vt:lpstr>Inhalt</vt:lpstr>
      <vt:lpstr>Vorstellung Corba</vt:lpstr>
      <vt:lpstr>Vorstellung MQTT</vt:lpstr>
      <vt:lpstr>Entscheidung </vt:lpstr>
      <vt:lpstr>Systemdesign</vt:lpstr>
      <vt:lpstr>Systemdesign - Erweiterung</vt:lpstr>
      <vt:lpstr>Systemdesign - Details</vt:lpstr>
      <vt:lpstr>Systemdesign - Verantwortlichkeiten</vt:lpstr>
      <vt:lpstr>Systemdesign - Verantwortlichkeiten</vt:lpstr>
      <vt:lpstr>Systemdesign - Protokoll</vt:lpstr>
      <vt:lpstr>Systemdesign - Protokoll</vt:lpstr>
      <vt:lpstr>Systemdesign - Protokoll</vt:lpstr>
      <vt:lpstr>Systemdesign - Protokoll</vt:lpstr>
      <vt:lpstr>Systemdesign - Architektur</vt:lpstr>
      <vt:lpstr>Systemdesign - Architektur</vt:lpstr>
      <vt:lpstr>Softwareaufruf -Argument List</vt:lpstr>
      <vt:lpstr>Softwareaufruf – Server Start</vt:lpstr>
      <vt:lpstr>Softwareaufruf – Client Connect</vt:lpstr>
      <vt:lpstr>Softwareaufruf – Live Beispiele</vt:lpstr>
      <vt:lpstr>Softwareaufruf – Live Beispiele</vt:lpstr>
      <vt:lpstr>Testszenarien</vt:lpstr>
      <vt:lpstr>Funktionale Tests (Test 1)</vt:lpstr>
      <vt:lpstr>Funktionale Tests (Test 2)</vt:lpstr>
      <vt:lpstr>Performance &amp; Latenz (Überblick)</vt:lpstr>
      <vt:lpstr>TCP-Durchsatz</vt:lpstr>
      <vt:lpstr>TCP-Durchsatz</vt:lpstr>
      <vt:lpstr>Einordnung der Ergebnisse</vt:lpstr>
      <vt:lpstr>Fazit</vt:lpstr>
      <vt:lpstr>PowerPoint-Präsentation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Wetzlar, Robin</dc:creator>
  <cp:lastModifiedBy>Per Hüpenbecker</cp:lastModifiedBy>
  <cp:revision>34</cp:revision>
  <cp:lastPrinted>2026-01-31T01:39:08Z</cp:lastPrinted>
  <dcterms:created xsi:type="dcterms:W3CDTF">2026-01-19T12:07:04Z</dcterms:created>
  <dcterms:modified xsi:type="dcterms:W3CDTF">2026-01-31T06:29:00Z</dcterms:modified>
</cp:coreProperties>
</file>