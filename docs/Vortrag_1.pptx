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5"/>
  </p:notesMasterIdLst>
  <p:sldIdLst>
    <p:sldId id="259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77" r:id="rId10"/>
    <p:sldId id="279" r:id="rId11"/>
    <p:sldId id="280" r:id="rId12"/>
    <p:sldId id="281" r:id="rId13"/>
    <p:sldId id="282" r:id="rId14"/>
    <p:sldId id="267" r:id="rId15"/>
    <p:sldId id="284" r:id="rId16"/>
    <p:sldId id="286" r:id="rId17"/>
    <p:sldId id="287" r:id="rId18"/>
    <p:sldId id="288" r:id="rId19"/>
    <p:sldId id="289" r:id="rId20"/>
    <p:sldId id="290" r:id="rId21"/>
    <p:sldId id="270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schnitt ohne Titel" id="{B7FEB1E5-28BF-4FDF-9467-68706E5B3862}">
          <p14:sldIdLst>
            <p14:sldId id="259"/>
          </p14:sldIdLst>
        </p14:section>
        <p14:section name="Abschnitt ohne Titel" id="{10D71CEC-87F0-4E32-B3B2-A5A12562DAD2}">
          <p14:sldIdLst>
            <p14:sldId id="257"/>
            <p14:sldId id="258"/>
            <p14:sldId id="260"/>
            <p14:sldId id="262"/>
            <p14:sldId id="263"/>
            <p14:sldId id="264"/>
            <p14:sldId id="265"/>
            <p14:sldId id="277"/>
            <p14:sldId id="279"/>
            <p14:sldId id="280"/>
            <p14:sldId id="281"/>
            <p14:sldId id="282"/>
            <p14:sldId id="267"/>
            <p14:sldId id="284"/>
            <p14:sldId id="286"/>
            <p14:sldId id="287"/>
            <p14:sldId id="288"/>
            <p14:sldId id="289"/>
            <p14:sldId id="290"/>
            <p14:sldId id="270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tzlar, Robin" initials="WR" lastIdx="2" clrIdx="0">
    <p:extLst>
      <p:ext uri="{19B8F6BF-5375-455C-9EA6-DF929625EA0E}">
        <p15:presenceInfo xmlns:p15="http://schemas.microsoft.com/office/powerpoint/2012/main" userId="Wetzlar, Rob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9239" autoAdjust="0"/>
  </p:normalViewPr>
  <p:slideViewPr>
    <p:cSldViewPr snapToGrid="0">
      <p:cViewPr varScale="1">
        <p:scale>
          <a:sx n="88" d="100"/>
          <a:sy n="88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Client -&gt; Server</c:v>
                </c:pt>
                <c:pt idx="1">
                  <c:v>Server -&gt; Client (Reverse)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8.3000000000000007</c:v>
                </c:pt>
                <c:pt idx="1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9C-484A-B65B-66C450AA1BFD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Secure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Tabelle1!$A$2:$A$3</c:f>
              <c:strCache>
                <c:ptCount val="2"/>
                <c:pt idx="0">
                  <c:v>Client -&gt; Server</c:v>
                </c:pt>
                <c:pt idx="1">
                  <c:v>Server -&gt; Client (Reverse)</c:v>
                </c:pt>
              </c:strCache>
            </c:strRef>
          </c:cat>
          <c:val>
            <c:numRef>
              <c:f>Tabelle1!$C$2:$C$3</c:f>
              <c:numCache>
                <c:formatCode>General</c:formatCode>
                <c:ptCount val="2"/>
                <c:pt idx="0">
                  <c:v>6.2</c:v>
                </c:pt>
                <c:pt idx="1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9C-484A-B65B-66C450AA1B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083214543"/>
        <c:axId val="1083209263"/>
      </c:barChart>
      <c:catAx>
        <c:axId val="108321454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083209263"/>
        <c:crosses val="autoZero"/>
        <c:auto val="1"/>
        <c:lblAlgn val="ctr"/>
        <c:lblOffset val="100"/>
        <c:noMultiLvlLbl val="0"/>
      </c:catAx>
      <c:valAx>
        <c:axId val="1083209263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/>
                  <a:t>Mbit/s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crossAx val="1083214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F66AD-5EDD-4A2D-B5B0-A56DD73A056F}" type="datetimeFigureOut">
              <a:rPr lang="de-DE" smtClean="0"/>
              <a:t>28.01.2026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E360DB-0380-40E8-8BC8-C7182241C6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4149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15209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 diesem Teil geht es um die Tests des entwickelten MQTT-Tunnels.</a:t>
            </a:r>
            <a:br>
              <a:rPr lang="de-DE" dirty="0"/>
            </a:br>
            <a:r>
              <a:rPr lang="de-DE" dirty="0"/>
              <a:t>Zuerst haben wir überprüft, ob der Tunnel funktional korrekt arbeitet, also ob IP-Kommunikation grundsätzlich möglich ist.</a:t>
            </a:r>
            <a:br>
              <a:rPr lang="de-DE" dirty="0"/>
            </a:br>
            <a:r>
              <a:rPr lang="de-DE" dirty="0"/>
              <a:t>Anschließend haben wir Performance- und Latenztests durchgeführt und dabei jeweils den unverschlüsselten Baseline-Betrieb mit dem verschlüsselten Secure-Betrieb verglichen.</a:t>
            </a:r>
            <a:br>
              <a:rPr lang="de-DE" dirty="0"/>
            </a:br>
            <a:r>
              <a:rPr lang="de-DE" dirty="0"/>
              <a:t>Alle Tests wurden in einer kontrollierten Umgebung mit zwei virtuellen Maschinen und einem MQTT-Broker durchgeführt.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0625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Der erste Test prüft ausschließlich die Erreichbarkeit über den Tunnel.</a:t>
            </a:r>
            <a:br>
              <a:rPr lang="de-DE" dirty="0"/>
            </a:br>
            <a:r>
              <a:rPr lang="de-DE" dirty="0"/>
              <a:t>Dazu wurde ein ICMP-Ping vom Tunnel-Client zur Tunnel-IP des Servers gesendet.</a:t>
            </a:r>
            <a:br>
              <a:rPr lang="de-DE" dirty="0"/>
            </a:br>
            <a:r>
              <a:rPr lang="de-DE" dirty="0"/>
              <a:t>Wichtig ist hier: Der Ping läuft nicht über das physische Netzwerk, sondern über das virtuelle TUN-Interface.</a:t>
            </a:r>
            <a:br>
              <a:rPr lang="de-DE" dirty="0"/>
            </a:br>
            <a:r>
              <a:rPr lang="de-DE" dirty="0"/>
              <a:t>Der erfolgreiche Ping zeigt, dass IP-Pakete korrekt durch den Tunnel transportiert werden.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0455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Im zweiten funktionalen Test wurde geprüft, ob TCP-Verbindungen transparent über den Tunnel funktionieren.</a:t>
            </a:r>
            <a:br>
              <a:rPr lang="de-DE" dirty="0"/>
            </a:br>
            <a:r>
              <a:rPr lang="de-DE" dirty="0"/>
              <a:t>Dazu wurde auf dem Server ein TCP-</a:t>
            </a:r>
            <a:r>
              <a:rPr lang="de-DE" dirty="0" err="1"/>
              <a:t>Listener</a:t>
            </a:r>
            <a:r>
              <a:rPr lang="de-DE" dirty="0"/>
              <a:t> mit </a:t>
            </a:r>
            <a:r>
              <a:rPr lang="de-DE" dirty="0" err="1"/>
              <a:t>netcat</a:t>
            </a:r>
            <a:r>
              <a:rPr lang="de-DE" dirty="0"/>
              <a:t> gestartet und vom Client eine Verbindung über die Tunnel-IP aufgebaut.</a:t>
            </a:r>
            <a:br>
              <a:rPr lang="de-DE" dirty="0"/>
            </a:br>
            <a:r>
              <a:rPr lang="de-DE" dirty="0"/>
              <a:t>Die gesendete Testnachricht kam korrekt beim Server an.</a:t>
            </a:r>
            <a:br>
              <a:rPr lang="de-DE" dirty="0"/>
            </a:br>
            <a:r>
              <a:rPr lang="de-DE" dirty="0"/>
              <a:t>Dieser Test zeigt, dass nicht nur ICMP, sondern auch zustandsbehaftete TCP-Verbindungen zuverlässig über den Tunnel laufen.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3029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Für die Performance-Analyse wurde das Werkzeug iperf3 verwendet.</a:t>
            </a:r>
            <a:br>
              <a:rPr lang="de-DE" dirty="0"/>
            </a:br>
            <a:r>
              <a:rPr lang="de-DE" dirty="0"/>
              <a:t>Untersucht wurden TCP- und UDP-Durchsatz sowie </a:t>
            </a:r>
            <a:r>
              <a:rPr lang="de-DE" dirty="0" err="1"/>
              <a:t>Jitter</a:t>
            </a:r>
            <a:r>
              <a:rPr lang="de-DE" dirty="0"/>
              <a:t> und Paketverlust.</a:t>
            </a:r>
            <a:br>
              <a:rPr lang="de-DE" dirty="0"/>
            </a:br>
            <a:r>
              <a:rPr lang="de-DE" dirty="0"/>
              <a:t>Alle Messungen wurden über das TUN-Interface durchgeführt.</a:t>
            </a:r>
            <a:br>
              <a:rPr lang="de-DE" dirty="0"/>
            </a:br>
            <a:r>
              <a:rPr lang="de-DE" dirty="0"/>
              <a:t>Zusätzlich haben wir Vergleichsmessungen ohne Tunnel im Host-</a:t>
            </a:r>
            <a:r>
              <a:rPr lang="de-DE" dirty="0" err="1"/>
              <a:t>Only</a:t>
            </a:r>
            <a:r>
              <a:rPr lang="de-DE" dirty="0"/>
              <a:t>-Netzwerk durchgeführt, um eine Referenz zu haben.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3476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sieht man den gemessenen TCP-Durchsatz über den Tunnel.</a:t>
            </a:r>
            <a:br>
              <a:rPr lang="de-DE" dirty="0"/>
            </a:br>
            <a:r>
              <a:rPr lang="de-DE" dirty="0"/>
              <a:t>Im Baseline-Betrieb, also ohne Verschlüsselung, lag der Durchsatz im Client-zu-Server-Betrieb bei etwa 8 bis 8,7 Mbit/s.</a:t>
            </a:r>
            <a:br>
              <a:rPr lang="de-DE" dirty="0"/>
            </a:br>
            <a:r>
              <a:rPr lang="de-DE" dirty="0"/>
              <a:t>Mit aktivierter Verschlüsselung sank der Durchsatz auf etwa 5,7 bis 6,7 Mbit/s.</a:t>
            </a:r>
            <a:br>
              <a:rPr lang="de-DE" dirty="0"/>
            </a:br>
            <a:r>
              <a:rPr lang="de-DE" dirty="0"/>
              <a:t>In der Reverse-Richtung lagen beide Modi bei etwa 2,6 Mbit/s.</a:t>
            </a:r>
          </a:p>
          <a:p>
            <a:r>
              <a:rPr lang="de-DE" dirty="0"/>
              <a:t>Zum Vergleich: Ohne Tunnel, also direkt über das Host-</a:t>
            </a:r>
            <a:r>
              <a:rPr lang="de-DE" dirty="0" err="1"/>
              <a:t>Only</a:t>
            </a:r>
            <a:r>
              <a:rPr lang="de-DE" dirty="0"/>
              <a:t>-Netzwerk, wurden TCP-Durchsätze von etwa 2,6 bis 2,7 Gbit/s gemessen.</a:t>
            </a:r>
            <a:br>
              <a:rPr lang="de-DE" dirty="0"/>
            </a:br>
            <a:r>
              <a:rPr lang="de-DE" dirty="0"/>
              <a:t>Dieser starke Unterschied zeigt, dass der Durchsatz nicht durch das Netzwerk selbst, sondern durch das MQTT-basierte Tunnelkonzept begrenzt wird.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25011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 den UDP-Tests wurden verschiedene Zielraten getestet.</a:t>
            </a:r>
            <a:br>
              <a:rPr lang="de-DE" dirty="0"/>
            </a:br>
            <a:r>
              <a:rPr lang="de-DE" dirty="0"/>
              <a:t>Bis 5 Mbit/s traten weder im Baseline- noch im Secure-Betrieb Paketverluste auf.</a:t>
            </a:r>
            <a:br>
              <a:rPr lang="de-DE" dirty="0"/>
            </a:br>
            <a:r>
              <a:rPr lang="de-DE" dirty="0"/>
              <a:t>Der gemessene </a:t>
            </a:r>
            <a:r>
              <a:rPr lang="de-DE" dirty="0" err="1"/>
              <a:t>Jitter</a:t>
            </a:r>
            <a:r>
              <a:rPr lang="de-DE" dirty="0"/>
              <a:t> lag dabei im Bereich von etwa 1 bis 2 Millisekunden.</a:t>
            </a:r>
          </a:p>
          <a:p>
            <a:r>
              <a:rPr lang="de-DE" dirty="0" err="1"/>
              <a:t>Jitter</a:t>
            </a:r>
            <a:r>
              <a:rPr lang="de-DE" dirty="0"/>
              <a:t> beschreibt die zeitliche Schwankung zwischen ankommenden Paketen.</a:t>
            </a:r>
            <a:br>
              <a:rPr lang="de-DE" dirty="0"/>
            </a:br>
            <a:r>
              <a:rPr lang="de-DE" dirty="0"/>
              <a:t>Ein niedriger </a:t>
            </a:r>
            <a:r>
              <a:rPr lang="de-DE" dirty="0" err="1"/>
              <a:t>Jitter</a:t>
            </a:r>
            <a:r>
              <a:rPr lang="de-DE" dirty="0"/>
              <a:t> bedeutet eine gleichmäßige Übertragung, ein hoher </a:t>
            </a:r>
            <a:r>
              <a:rPr lang="de-DE" dirty="0" err="1"/>
              <a:t>Jitter</a:t>
            </a:r>
            <a:r>
              <a:rPr lang="de-DE" dirty="0"/>
              <a:t> weist auf Verzögerungsschwankungen hin.</a:t>
            </a:r>
          </a:p>
          <a:p>
            <a:r>
              <a:rPr lang="de-DE" dirty="0"/>
              <a:t>Bei einer </a:t>
            </a:r>
            <a:r>
              <a:rPr lang="de-DE" dirty="0" err="1"/>
              <a:t>Zielrate</a:t>
            </a:r>
            <a:r>
              <a:rPr lang="de-DE" dirty="0"/>
              <a:t> von 10 Mbit/s kam es zu deutlichem Paketverlust:</a:t>
            </a:r>
            <a:br>
              <a:rPr lang="de-DE" dirty="0"/>
            </a:br>
            <a:r>
              <a:rPr lang="de-DE" dirty="0"/>
              <a:t>etwa 38 % im Baseline-Betrieb und etwa 23 % im Secure-Betrieb.</a:t>
            </a:r>
            <a:br>
              <a:rPr lang="de-DE" dirty="0"/>
            </a:br>
            <a:r>
              <a:rPr lang="de-DE" dirty="0"/>
              <a:t>Diese Verluste traten also unabhängig von der Verschlüsselung auf und sind auf die hohe Nachrichtenrate und den MQTT-Overhead zurückzuführen.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0082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Zusammenfassend zeigen die Tests, dass der Tunnel funktional korrekt arbeitet und sowohl ICMP, TCP als auch UDP unterstützt.</a:t>
            </a:r>
            <a:br>
              <a:rPr lang="de-DE" dirty="0"/>
            </a:br>
            <a:r>
              <a:rPr lang="de-DE" dirty="0"/>
              <a:t>Die Performance liegt jedoch deutlich unter der nativen Netzwerkleistung.</a:t>
            </a:r>
            <a:br>
              <a:rPr lang="de-DE" dirty="0"/>
            </a:br>
            <a:r>
              <a:rPr lang="de-DE" dirty="0"/>
              <a:t>Der Hauptlimitierungsfaktor ist nicht die Verschlüsselung, sondern das MQTT-Transportmodell, bei dem jedes IP-Paket in einzelne MQTT-Nachrichten gekapselt wird.</a:t>
            </a:r>
          </a:p>
          <a:p>
            <a:r>
              <a:rPr lang="de-DE" dirty="0"/>
              <a:t>Der Tunnel eignet sich daher vor allem für Szenarien mit geringen bis mittleren Datenraten oder speziellen Anforderungen an Kapselung und Sichtbarkeit, weniger für Hochdurchsatz-Anwendungen.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E360DB-0380-40E8-8BC8-C7182241C68B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492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0EA37-2719-496D-B066-D01E591F9586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171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F4892-0E1C-4F9C-A731-EDC947A1751A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112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8217-FD1D-4B5F-BF67-2458880C2ED6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457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1EA18-BC9B-4F4F-ADC6-F8B020DDC0B5}" type="datetime1">
              <a:rPr lang="de-DE" smtClean="0"/>
              <a:t>28.01.2026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751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1F446-0E77-48AF-A20C-66D054A9EFD2}" type="datetime1">
              <a:rPr lang="de-DE" smtClean="0"/>
              <a:t>28.01.2026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93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80B97-DD2F-4480-AD16-E44EB86EF84F}" type="datetime1">
              <a:rPr lang="de-DE" smtClean="0"/>
              <a:t>28.01.2026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0310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02A2C-E376-49AB-894F-613627C71857}" type="datetime1">
              <a:rPr lang="de-DE" smtClean="0"/>
              <a:t>28.01.2026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216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56046-2FA4-41C2-80DD-B55B708ABAB3}" type="datetime1">
              <a:rPr lang="de-DE" smtClean="0"/>
              <a:t>28.01.2026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9451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AF25E-4DC8-42C8-968F-E97733ACA5FB}" type="datetime1">
              <a:rPr lang="de-DE" smtClean="0"/>
              <a:t>28.01.2026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1369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CD89E-76F7-4C2F-86CB-0BBBA728C555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348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AEDEC-8CD9-49E1-A161-F20005E662B9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91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241EE-90E2-43AD-A9EB-AFCAA3F3C311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03A0A9-FF6F-453A-8BD6-8BF7AE64E8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376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fficeArt object">
            <a:extLst>
              <a:ext uri="{FF2B5EF4-FFF2-40B4-BE49-F238E27FC236}">
                <a16:creationId xmlns:a16="http://schemas.microsoft.com/office/drawing/2014/main" id="{07F91125-2D31-4ADA-A4D5-D76FEB06F72B}"/>
              </a:ext>
            </a:extLst>
          </p:cNvPr>
          <p:cNvPicPr/>
          <p:nvPr/>
        </p:nvPicPr>
        <p:blipFill>
          <a:blip r:embed="rId2">
            <a:alphaModFix amt="39640"/>
          </a:blip>
          <a:srcRect t="29424" r="7489"/>
          <a:stretch>
            <a:fillRect/>
          </a:stretch>
        </p:blipFill>
        <p:spPr>
          <a:xfrm>
            <a:off x="0" y="-1475300"/>
            <a:ext cx="13094017" cy="9989379"/>
          </a:xfrm>
          <a:prstGeom prst="rect">
            <a:avLst/>
          </a:prstGeom>
          <a:ln w="12700" cap="flat">
            <a:noFill/>
            <a:miter lim="400000"/>
          </a:ln>
          <a:effectLst>
            <a:reflection stA="77789" endPos="40000" dir="5400000" sy="-100000" algn="bl" rotWithShape="0"/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FEA0765-9E22-4220-A5B9-366F60EBF3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sz="6000" b="1" dirty="0"/>
              <a:t>Tunneln von Nachrichten innerhalb von Massagebroker basierten Protokollen</a:t>
            </a:r>
            <a:endParaRPr lang="de-DE" b="1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854AAF-0F3A-42F9-9FC0-2101F1DD0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255963"/>
          </a:xfrm>
        </p:spPr>
        <p:txBody>
          <a:bodyPr>
            <a:normAutofit lnSpcReduction="10000"/>
          </a:bodyPr>
          <a:lstStyle/>
          <a:p>
            <a:pPr algn="l"/>
            <a:r>
              <a:rPr lang="de-DE" sz="3100" dirty="0"/>
              <a:t>Fachpraktikum 63585 </a:t>
            </a:r>
          </a:p>
          <a:p>
            <a:pPr algn="l"/>
            <a:r>
              <a:rPr lang="de-DE" sz="3100" dirty="0"/>
              <a:t>IT-Sicherheit, IT-Forensik und Datenschutz</a:t>
            </a:r>
          </a:p>
          <a:p>
            <a:pPr algn="l"/>
            <a:endParaRPr lang="de-DE" sz="3100" dirty="0"/>
          </a:p>
          <a:p>
            <a:pPr algn="l"/>
            <a:r>
              <a:rPr lang="de-DE" sz="3100" dirty="0"/>
              <a:t>Gruppenarbeit</a:t>
            </a:r>
          </a:p>
          <a:p>
            <a:pPr algn="l"/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Per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Hüpenbecker</a:t>
            </a:r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pPr algn="l"/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Carsten Lenzen</a:t>
            </a:r>
          </a:p>
          <a:p>
            <a:pPr algn="l"/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Robin Wetzlar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41848A-C3D9-4ED8-B56E-225FBAB73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A9B0-A597-4E90-A111-B9AFECF4D010}" type="datetime1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EEE061-4FFE-4179-90A9-98FBCAFA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1275893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334B1A-8C99-4B48-AB66-4779CAC84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3FEFF3-DCC5-4977-8C6A-E9A087F73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Vorstellung Protokolle </a:t>
            </a:r>
            <a:r>
              <a:rPr lang="de-DE" dirty="0" err="1"/>
              <a:t>Corba</a:t>
            </a:r>
            <a:r>
              <a:rPr lang="de-DE" dirty="0"/>
              <a:t> / MQTT</a:t>
            </a:r>
          </a:p>
          <a:p>
            <a:r>
              <a:rPr lang="de-DE" dirty="0"/>
              <a:t>Systemdesign</a:t>
            </a:r>
          </a:p>
          <a:p>
            <a:r>
              <a:rPr lang="de-DE" dirty="0"/>
              <a:t>Softwareaufbau</a:t>
            </a:r>
          </a:p>
          <a:p>
            <a:r>
              <a:rPr lang="de-DE" dirty="0"/>
              <a:t>Softwareablauf</a:t>
            </a:r>
          </a:p>
          <a:p>
            <a:r>
              <a:rPr lang="de-DE" dirty="0"/>
              <a:t>Testszenarien inkl. Ergebnisse</a:t>
            </a:r>
          </a:p>
          <a:p>
            <a:r>
              <a:rPr lang="de-DE" dirty="0"/>
              <a:t>Fazit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2C48D4-3582-43E8-8601-B801BDABC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9DCB0-4F99-4366-8E49-20275D5812C1}" type="datetime1">
              <a:rPr lang="de-DE" smtClean="0"/>
              <a:t>28.01.2026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C2B2E3-D1C4-4048-B373-4D508C354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1D9BAA4-D7B9-4721-848F-8091FBDE3026}"/>
              </a:ext>
            </a:extLst>
          </p:cNvPr>
          <p:cNvSpPr/>
          <p:nvPr/>
        </p:nvSpPr>
        <p:spPr>
          <a:xfrm>
            <a:off x="0" y="6833182"/>
            <a:ext cx="67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044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DA537-4899-4A43-9613-5D91DF15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Vorstellung </a:t>
            </a:r>
            <a:r>
              <a:rPr lang="de-DE" dirty="0" err="1"/>
              <a:t>Corba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C10E1B-AE34-4BB7-A59E-7D465E852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AAAAAB+HelveticaNeue"/>
              </a:rPr>
              <a:t>Common Object Request Broker Architecture</a:t>
            </a:r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kein Protokoll im herkömmlichen Sinne,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Standard für eine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B+HelveticaNeue"/>
              </a:rPr>
              <a:t>Middlewarearchitektur</a:t>
            </a:r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unabhängig von Programmiersprache, Betriebssystem oder Hardwareplattform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basiert dabei auf TCP/IP</a:t>
            </a: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B1438E38-33F0-46B2-997E-BCA696668FA3}"/>
              </a:ext>
            </a:extLst>
          </p:cNvPr>
          <p:cNvSpPr txBox="1"/>
          <p:nvPr/>
        </p:nvSpPr>
        <p:spPr>
          <a:xfrm>
            <a:off x="838200" y="4265747"/>
            <a:ext cx="6097554" cy="150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Einsatzgebiete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Altsysteme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Echtzeit- und </a:t>
            </a:r>
            <a:r>
              <a:rPr lang="de-DE" dirty="0" err="1">
                <a:solidFill>
                  <a:srgbClr val="000000"/>
                </a:solidFill>
                <a:latin typeface="AAAAAB+HelveticaNeue"/>
              </a:rPr>
              <a:t>embedded</a:t>
            </a:r>
            <a:r>
              <a:rPr lang="de-DE" dirty="0">
                <a:solidFill>
                  <a:srgbClr val="000000"/>
                </a:solidFill>
                <a:latin typeface="AAAAAB+HelveticaNeue"/>
              </a:rPr>
              <a:t> Systeme (z.B. Luft- und Raumfahrt)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Heterogene und komplexe IT-Landschaft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B51504-9F51-4087-8352-909AAD81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B7CB4-2942-42F9-964F-8FE4ED0557DE}" type="datetime1">
              <a:rPr lang="de-DE" smtClean="0"/>
              <a:t>28.01.2026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DCDFB47-3A32-4C37-BAD9-EE63C399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369E5B3-7DBB-4E16-9CD2-9DB8C60925D2}"/>
              </a:ext>
            </a:extLst>
          </p:cNvPr>
          <p:cNvSpPr/>
          <p:nvPr/>
        </p:nvSpPr>
        <p:spPr>
          <a:xfrm>
            <a:off x="0" y="6833182"/>
            <a:ext cx="1249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908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DDA537-4899-4A43-9613-5D91DF158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Vorstellung MQTT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C10E1B-AE34-4BB7-A59E-7D465E852F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Message Queuing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Telemetry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 Transport</a:t>
            </a: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schlankes, offenes Nachrichtenprotokoll</a:t>
            </a: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speziell für die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Machine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-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to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-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Machine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-Kommunikation im Internet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of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 </a:t>
            </a:r>
            <a:r>
              <a:rPr lang="de-DE" sz="1800" dirty="0" err="1">
                <a:solidFill>
                  <a:srgbClr val="000000"/>
                </a:solidFill>
                <a:latin typeface="AAAAAB+HelveticaNeue"/>
              </a:rPr>
              <a:t>things</a:t>
            </a: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 </a:t>
            </a: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Ziel: effiziente Übertragung von Daten in Umgebungen mit begrenzter Bandbreite, hoher Latenz oder unzuverlässigen Netzwerkverbindungen</a:t>
            </a:r>
          </a:p>
          <a:p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endParaRPr lang="de-DE" sz="180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8448F2-D820-4F07-9AE0-E46022583BF0}"/>
              </a:ext>
            </a:extLst>
          </p:cNvPr>
          <p:cNvSpPr txBox="1"/>
          <p:nvPr/>
        </p:nvSpPr>
        <p:spPr>
          <a:xfrm>
            <a:off x="838200" y="4265748"/>
            <a:ext cx="6097554" cy="1501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Einsatzgebiete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SmartHome und Gebäudeautomatisierung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Telemetrie und Sensornetzwerke (z.B. Öl- und Gasindustrie)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de-DE" dirty="0">
                <a:solidFill>
                  <a:srgbClr val="000000"/>
                </a:solidFill>
                <a:latin typeface="AAAAAB+HelveticaNeue"/>
              </a:rPr>
              <a:t>Gesundheitswesen (Wearables) 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9E2EEDA-8A5A-44BA-AE79-1E8488EAC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1CD03-D624-41C8-84F5-3E28460DF4FC}" type="datetime1">
              <a:rPr lang="de-DE" smtClean="0"/>
              <a:t>28.01.2026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76567DE-7E29-4BC8-B44E-584F01CEC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6A8F135-A0EF-4DB8-ABE2-6193812D56DC}"/>
              </a:ext>
            </a:extLst>
          </p:cNvPr>
          <p:cNvSpPr/>
          <p:nvPr/>
        </p:nvSpPr>
        <p:spPr>
          <a:xfrm>
            <a:off x="0" y="6833182"/>
            <a:ext cx="1825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8154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A2C0B4-0F29-4992-B72E-09275BEC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Entscheidung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88FD2F-9D06-4A7F-9D84-D9573E630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Auswahl</a:t>
            </a:r>
          </a:p>
          <a:p>
            <a:r>
              <a:rPr lang="de-DE" dirty="0"/>
              <a:t>MQTT als Trägerprotokoll 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Begründung</a:t>
            </a:r>
          </a:p>
          <a:p>
            <a:r>
              <a:rPr lang="de-DE" dirty="0"/>
              <a:t>Hauptaugenmerk auf effiziente Nachrichtenübertragung</a:t>
            </a:r>
          </a:p>
          <a:p>
            <a:r>
              <a:rPr lang="de-DE" dirty="0"/>
              <a:t>mehr Berührungspunkte mit dem alltäglichen Leben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0418CD-8DB1-4620-9E6E-65D418302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E9245-EA88-41A7-8B39-A58C02FA4271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E830E1-A787-4F65-A6C3-DA3A813FA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C26B8B1-EEAB-4C74-AC5C-26EDBE456BF5}"/>
              </a:ext>
            </a:extLst>
          </p:cNvPr>
          <p:cNvSpPr/>
          <p:nvPr/>
        </p:nvSpPr>
        <p:spPr>
          <a:xfrm>
            <a:off x="0" y="6833182"/>
            <a:ext cx="2401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293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69807-0EBA-497A-A336-F748325DE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0070FE-ABC9-425F-B8B9-6CCF262FF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0C70C22-989F-4A54-9E58-4337A384511A}"/>
              </a:ext>
            </a:extLst>
          </p:cNvPr>
          <p:cNvGrpSpPr/>
          <p:nvPr/>
        </p:nvGrpSpPr>
        <p:grpSpPr>
          <a:xfrm>
            <a:off x="0" y="1427854"/>
            <a:ext cx="12192000" cy="4916689"/>
            <a:chOff x="0" y="970655"/>
            <a:chExt cx="12192000" cy="4916689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64F7BFCC-5366-40AF-B1C6-7871F37408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0811"/>
            <a:stretch/>
          </p:blipFill>
          <p:spPr>
            <a:xfrm>
              <a:off x="0" y="970655"/>
              <a:ext cx="12192000" cy="4385117"/>
            </a:xfrm>
            <a:prstGeom prst="rect">
              <a:avLst/>
            </a:prstGeom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64FE0129-0432-45CF-BA21-9C2C24B6F0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7321" t="89188"/>
            <a:stretch/>
          </p:blipFill>
          <p:spPr>
            <a:xfrm>
              <a:off x="2248677" y="5355772"/>
              <a:ext cx="8860972" cy="531572"/>
            </a:xfrm>
            <a:prstGeom prst="rect">
              <a:avLst/>
            </a:prstGeom>
          </p:spPr>
        </p:pic>
      </p:grp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3DF9BB4-29C0-4E43-B838-4CC117C1E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8344-1871-4949-864A-AAC5D3FBBF8A}" type="datetime1">
              <a:rPr lang="de-DE" smtClean="0"/>
              <a:t>28.01.2026</a:t>
            </a:fld>
            <a:endParaRPr lang="de-DE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D1B41125-AEED-4861-8AB6-F8C6E2A0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644FDEC-D570-4BA9-83BF-B9932860EDB3}"/>
              </a:ext>
            </a:extLst>
          </p:cNvPr>
          <p:cNvSpPr/>
          <p:nvPr/>
        </p:nvSpPr>
        <p:spPr>
          <a:xfrm>
            <a:off x="0" y="6833182"/>
            <a:ext cx="2977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253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Softwareaufbau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FAF3841-7670-42AF-9DF4-B04D4FCDCE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810" b="8299"/>
          <a:stretch/>
        </p:blipFill>
        <p:spPr>
          <a:xfrm>
            <a:off x="6699380" y="0"/>
            <a:ext cx="5492620" cy="6288833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73CFD-12E4-4319-92ED-F9F993DC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97082" cy="4351338"/>
          </a:xfrm>
        </p:spPr>
        <p:txBody>
          <a:bodyPr>
            <a:normAutofit/>
          </a:bodyPr>
          <a:lstStyle/>
          <a:p>
            <a:r>
              <a:rPr lang="de-DE" dirty="0"/>
              <a:t>Modularer Aufbau</a:t>
            </a:r>
          </a:p>
          <a:p>
            <a:r>
              <a:rPr lang="de-DE" dirty="0" err="1"/>
              <a:t>helpers.h</a:t>
            </a:r>
            <a:r>
              <a:rPr lang="de-DE" dirty="0"/>
              <a:t> </a:t>
            </a:r>
          </a:p>
          <a:p>
            <a:pPr marL="457200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Hashfunktion (SHA256)</a:t>
            </a:r>
          </a:p>
          <a:p>
            <a:r>
              <a:rPr lang="de-DE" dirty="0" err="1"/>
              <a:t>ip_pool.h</a:t>
            </a:r>
            <a:r>
              <a:rPr lang="de-DE" dirty="0"/>
              <a:t> / ip_pool.cpp </a:t>
            </a:r>
          </a:p>
          <a:p>
            <a:pPr marL="457200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Management potentiellen IP-Pools</a:t>
            </a:r>
          </a:p>
          <a:p>
            <a:r>
              <a:rPr lang="de-DE" dirty="0" err="1">
                <a:sym typeface="Wingdings" panose="05000000000000000000" pitchFamily="2" charset="2"/>
              </a:rPr>
              <a:t>TunClient</a:t>
            </a:r>
            <a:endParaRPr lang="de-DE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 Richtet Tun-Device als Client ein</a:t>
            </a:r>
          </a:p>
          <a:p>
            <a:r>
              <a:rPr lang="de-DE" dirty="0" err="1">
                <a:sym typeface="Wingdings" panose="05000000000000000000" pitchFamily="2" charset="2"/>
              </a:rPr>
              <a:t>TunServer</a:t>
            </a:r>
            <a:endParaRPr lang="de-DE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de-DE" dirty="0">
                <a:sym typeface="Wingdings" panose="05000000000000000000" pitchFamily="2" charset="2"/>
              </a:rPr>
              <a:t> Richtet Tun-Device als Server ein</a:t>
            </a:r>
            <a:endParaRPr lang="de-DE" dirty="0"/>
          </a:p>
          <a:p>
            <a:endParaRPr lang="de-DE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48BDBA-5EAB-4177-B514-6DE426A6A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A327F-0539-4DEF-98DC-E81AC4925CC7}" type="datetime1">
              <a:rPr lang="de-DE" smtClean="0"/>
              <a:t>28.01.2026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C9075A2-E371-44B6-8D69-44BBC2D1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FED254B-16BB-4E27-A869-D4E95857374C}"/>
              </a:ext>
            </a:extLst>
          </p:cNvPr>
          <p:cNvSpPr/>
          <p:nvPr/>
        </p:nvSpPr>
        <p:spPr>
          <a:xfrm>
            <a:off x="0" y="6833182"/>
            <a:ext cx="355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7190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Softwareablauf (Start)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73CFD-12E4-4319-92ED-F9F993DC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2486" cy="4351338"/>
          </a:xfrm>
        </p:spPr>
        <p:txBody>
          <a:bodyPr>
            <a:normAutofit/>
          </a:bodyPr>
          <a:lstStyle/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Server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konfiguriert TUN-Interface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aktiviert IP-</a:t>
            </a:r>
            <a:r>
              <a:rPr lang="de-DE" sz="1600" b="0" i="0" u="none" strike="noStrike" baseline="0" dirty="0" err="1">
                <a:solidFill>
                  <a:srgbClr val="000000"/>
                </a:solidFill>
                <a:latin typeface="AAAAAJ+Helvetica"/>
              </a:rPr>
              <a:t>Forwarding</a:t>
            </a:r>
            <a:endParaRPr lang="de-DE" sz="1600" b="0" i="0" u="none" strike="noStrike" baseline="0" dirty="0">
              <a:solidFill>
                <a:srgbClr val="000000"/>
              </a:solidFill>
              <a:latin typeface="AAAAAJ+Helvetica"/>
            </a:endParaRP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Verbindung MQTT Command- und Data-Channel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startet einen separaten Thread</a:t>
            </a:r>
          </a:p>
          <a:p>
            <a:pPr lvl="1"/>
            <a:endParaRPr lang="de-DE" sz="1400" b="0" i="0" u="none" strike="noStrike" baseline="0" dirty="0">
              <a:solidFill>
                <a:srgbClr val="000000"/>
              </a:solidFill>
              <a:latin typeface="AAAAAJ+Helvetica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Neue Clients 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J+Helvetica"/>
              </a:rPr>
              <a:t>Aufnahme via </a:t>
            </a:r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Command-Channel per eigenem Handshake-Protokoll 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J+Helvetica"/>
              </a:rPr>
              <a:t>Dynamische IP-Vergabe aus </a:t>
            </a:r>
            <a:r>
              <a:rPr lang="de-DE" sz="1600" dirty="0" err="1">
                <a:solidFill>
                  <a:srgbClr val="000000"/>
                </a:solidFill>
                <a:latin typeface="AAAAAJ+Helvetica"/>
              </a:rPr>
              <a:t>IPPool</a:t>
            </a:r>
            <a:endParaRPr lang="de-DE" sz="1600" dirty="0">
              <a:solidFill>
                <a:srgbClr val="000000"/>
              </a:solidFill>
              <a:latin typeface="AAAAAJ+Helvetica"/>
            </a:endParaRP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J+Helvetica"/>
              </a:rPr>
              <a:t>Erzeugen individueller MQTT-Topics 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J+Helvetica"/>
              </a:rPr>
              <a:t>Sicherung Session Daten </a:t>
            </a:r>
            <a:r>
              <a:rPr lang="de-DE" sz="1600" dirty="0" err="1">
                <a:solidFill>
                  <a:srgbClr val="000000"/>
                </a:solidFill>
                <a:latin typeface="AAAAAJ+Helvetica"/>
              </a:rPr>
              <a:t>threadsafe</a:t>
            </a:r>
            <a:r>
              <a:rPr lang="de-DE" sz="1600" dirty="0">
                <a:solidFill>
                  <a:srgbClr val="000000"/>
                </a:solidFill>
                <a:latin typeface="AAAAAJ+Helvetica"/>
              </a:rPr>
              <a:t> in der </a:t>
            </a:r>
            <a:r>
              <a:rPr lang="de-DE" sz="1600" dirty="0" err="1">
                <a:solidFill>
                  <a:srgbClr val="000000"/>
                </a:solidFill>
                <a:latin typeface="AAAAAJ+Helvetica"/>
              </a:rPr>
              <a:t>SessionMap</a:t>
            </a:r>
            <a:endParaRPr lang="de-DE" sz="1600" dirty="0">
              <a:solidFill>
                <a:srgbClr val="000000"/>
              </a:solidFill>
              <a:latin typeface="AAAAAJ+Helvetica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81CBAD3-2EDC-4B7C-ACBA-732C995149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09"/>
          <a:stretch/>
        </p:blipFill>
        <p:spPr>
          <a:xfrm>
            <a:off x="4980686" y="1825625"/>
            <a:ext cx="6373114" cy="4351338"/>
          </a:xfrm>
          <a:prstGeom prst="rect">
            <a:avLst/>
          </a:prstGeo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2BAC4CF-11E3-4AF6-A930-E905402F1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88FDA-B727-4F12-B85E-168EB59E4813}" type="datetime1">
              <a:rPr lang="de-DE" smtClean="0"/>
              <a:t>28.01.2026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C021D9C-4CEB-4B8C-9F37-9236E954D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2CFB116F-65BF-488C-942C-4E0AD435F54E}"/>
              </a:ext>
            </a:extLst>
          </p:cNvPr>
          <p:cNvSpPr/>
          <p:nvPr/>
        </p:nvSpPr>
        <p:spPr>
          <a:xfrm>
            <a:off x="0" y="6833182"/>
            <a:ext cx="4129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74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Softwareablauf (Betrieb)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73CFD-12E4-4319-92ED-F9F993DC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2486" cy="4351338"/>
          </a:xfrm>
        </p:spPr>
        <p:txBody>
          <a:bodyPr>
            <a:normAutofit/>
          </a:bodyPr>
          <a:lstStyle/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Server liest IP-Pakete aus TUN-Interface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ermittelt Client-Session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veröffentlicht Daten auf MQTT-Topic </a:t>
            </a:r>
          </a:p>
          <a:p>
            <a:pPr marL="0" indent="0">
              <a:buNone/>
            </a:pPr>
            <a:endParaRPr lang="de-DE" sz="1800" b="0" i="0" u="none" strike="noStrike" baseline="0" dirty="0">
              <a:solidFill>
                <a:srgbClr val="000000"/>
              </a:solidFill>
              <a:latin typeface="AAAAAJ+Helvetica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Optional: Verschlüsselung per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J+Helvetica"/>
              </a:rPr>
              <a:t>CryptoManager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 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81CBAD3-2EDC-4B7C-ACBA-732C995149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909"/>
          <a:stretch/>
        </p:blipFill>
        <p:spPr>
          <a:xfrm>
            <a:off x="4980686" y="1825625"/>
            <a:ext cx="6373114" cy="4351338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6067C3-EB9F-413B-A335-57A93D0B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C8AF1-EC83-4507-A92F-5034AEE8069A}" type="datetime1">
              <a:rPr lang="de-DE" smtClean="0"/>
              <a:t>28.01.2026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1F6216-3798-491A-A2A7-F31CC497F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32A7C16-C25F-437D-9C05-D719C5BDB914}"/>
              </a:ext>
            </a:extLst>
          </p:cNvPr>
          <p:cNvSpPr/>
          <p:nvPr/>
        </p:nvSpPr>
        <p:spPr>
          <a:xfrm>
            <a:off x="0" y="6833182"/>
            <a:ext cx="4705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5144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73CFD-12E4-4319-92ED-F9F993DC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2486" cy="4351338"/>
          </a:xfrm>
        </p:spPr>
        <p:txBody>
          <a:bodyPr>
            <a:normAutofit/>
          </a:bodyPr>
          <a:lstStyle/>
          <a:p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J+Helvetica"/>
              </a:rPr>
              <a:t>TunnelClient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  <a:sym typeface="Wingdings" panose="05000000000000000000" pitchFamily="2" charset="2"/>
              </a:rPr>
              <a:t>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MQTT-basierten Tunnel-Client,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der Netzwerkpakete über lokales TUN-Interface liest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und über MQTT an einen Tunnel-Server überträgt.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Auf Clientseite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Einrichtung 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J+Helvetica"/>
              </a:rPr>
              <a:t>Betrieb</a:t>
            </a:r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 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J+Helvetica"/>
              </a:rPr>
              <a:t>Auf- u. Abbau einer Tunnelsitzung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C8EB161-C431-4D2E-B070-0C9A58CE0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133" y="1825625"/>
            <a:ext cx="5433165" cy="427589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E6AD0F-B303-4C7D-850A-50C24911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90FDFA-7F65-439D-B89A-557212752120}" type="datetime1">
              <a:rPr lang="de-DE" smtClean="0"/>
              <a:t>28.01.2026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9475D3F-A069-4CEB-876F-C2D1B519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0F17564-8466-4C98-930E-D4398E00FDB2}"/>
              </a:ext>
            </a:extLst>
          </p:cNvPr>
          <p:cNvSpPr/>
          <p:nvPr/>
        </p:nvSpPr>
        <p:spPr>
          <a:xfrm>
            <a:off x="0" y="6833182"/>
            <a:ext cx="5281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6016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Softwareablauf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73CFD-12E4-4319-92ED-F9F993DC3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2486" cy="4351338"/>
          </a:xfrm>
        </p:spPr>
        <p:txBody>
          <a:bodyPr>
            <a:normAutofit/>
          </a:bodyPr>
          <a:lstStyle/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Client verbindet sich mit Command-Channel eines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J+Helvetica"/>
              </a:rPr>
              <a:t>TunnelServers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,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Session-Aushandlung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Verbinden mit Data Channel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starten separater Thread, </a:t>
            </a:r>
          </a:p>
          <a:p>
            <a:endParaRPr lang="de-DE" sz="1800" dirty="0">
              <a:solidFill>
                <a:srgbClr val="000000"/>
              </a:solidFill>
              <a:latin typeface="AAAAAJ+Helvetica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Optional: Verschlüsselung per </a:t>
            </a:r>
            <a:r>
              <a:rPr lang="de-DE" sz="1800" b="0" i="0" u="none" strike="noStrike" baseline="0" dirty="0" err="1">
                <a:solidFill>
                  <a:srgbClr val="000000"/>
                </a:solidFill>
                <a:latin typeface="AAAAAJ+Helvetica"/>
              </a:rPr>
              <a:t>CryptoManager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 </a:t>
            </a:r>
            <a:endParaRPr lang="de-DE" sz="1800" dirty="0">
              <a:solidFill>
                <a:srgbClr val="000000"/>
              </a:solidFill>
              <a:latin typeface="AAAAAJ+Helvetica"/>
            </a:endParaRPr>
          </a:p>
          <a:p>
            <a:endParaRPr lang="de-DE" sz="1800" b="0" i="0" u="none" strike="noStrike" baseline="0" dirty="0">
              <a:solidFill>
                <a:srgbClr val="000000"/>
              </a:solidFill>
              <a:latin typeface="AAAAAJ+Helvetica"/>
            </a:endParaRP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Beim Stoppen wird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Senden Termination-Message </a:t>
            </a:r>
          </a:p>
          <a:p>
            <a:r>
              <a:rPr lang="de-DE" sz="1800" b="0" i="0" u="none" strike="noStrike" baseline="0" dirty="0">
                <a:solidFill>
                  <a:srgbClr val="000000"/>
                </a:solidFill>
                <a:latin typeface="AAAAAJ+Helvetica"/>
              </a:rPr>
              <a:t>Schließen MQTT-Verbindungen 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C8EB161-C431-4D2E-B070-0C9A58CE0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132" y="1825625"/>
            <a:ext cx="5433165" cy="4275893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96501-87D1-4356-848E-3C181E30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8F276-9989-433B-A7D5-59253830AE9C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8E8BF5-96F8-4BB8-B5BC-0F25658E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4235ED4-0702-44F2-A356-1CD33541EE2F}"/>
              </a:ext>
            </a:extLst>
          </p:cNvPr>
          <p:cNvSpPr/>
          <p:nvPr/>
        </p:nvSpPr>
        <p:spPr>
          <a:xfrm>
            <a:off x="0" y="6833182"/>
            <a:ext cx="5497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4239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Softwareaufruf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96501-87D1-4356-848E-3C181E30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1B71F-3F7C-4162-929C-C22603ED74BB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8E8BF5-96F8-4BB8-B5BC-0F25658E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5944D3EE-4E10-460F-9A64-70D166CDE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74144"/>
            <a:ext cx="3479541" cy="36512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de-DE" sz="1800" b="0" i="1" u="none" strike="noStrike" baseline="0" dirty="0" err="1">
                <a:solidFill>
                  <a:srgbClr val="4270C4"/>
                </a:solidFill>
                <a:latin typeface="AAAAAI+HelveticaNeue-Italic"/>
              </a:rPr>
              <a:t>sudo</a:t>
            </a:r>
            <a:r>
              <a:rPr lang="de-DE" sz="1800" b="0" i="1" u="none" strike="noStrike" baseline="0" dirty="0">
                <a:solidFill>
                  <a:srgbClr val="4270C4"/>
                </a:solidFill>
                <a:latin typeface="AAAAAI+HelveticaNeue-Italic"/>
              </a:rPr>
              <a:t> ./</a:t>
            </a:r>
            <a:r>
              <a:rPr lang="de-DE" sz="1800" b="0" i="1" u="none" strike="noStrike" baseline="0" dirty="0" err="1">
                <a:solidFill>
                  <a:srgbClr val="4270C4"/>
                </a:solidFill>
                <a:latin typeface="AAAAAI+HelveticaNeue-Italic"/>
              </a:rPr>
              <a:t>mqtt_tunnel</a:t>
            </a:r>
            <a:r>
              <a:rPr lang="de-DE" sz="1800" b="0" i="1" u="none" strike="noStrike" baseline="0" dirty="0">
                <a:solidFill>
                  <a:srgbClr val="4270C4"/>
                </a:solidFill>
                <a:latin typeface="AAAAAI+HelveticaNeue-Italic"/>
              </a:rPr>
              <a:t> [ARGUMENTS] 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86152E3-77D2-4B1F-8E51-42AFACD94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631" y="718457"/>
            <a:ext cx="7413230" cy="5637893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434444B9-8AD8-4ED7-925A-0135C0CA7330}"/>
              </a:ext>
            </a:extLst>
          </p:cNvPr>
          <p:cNvSpPr/>
          <p:nvPr/>
        </p:nvSpPr>
        <p:spPr>
          <a:xfrm>
            <a:off x="0" y="6833182"/>
            <a:ext cx="607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29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96501-87D1-4356-848E-3C181E30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18E4-A42B-423D-8800-05B9E5CB6930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8E8BF5-96F8-4BB8-B5BC-0F25658E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25CD5E5-2556-42BC-9E09-3765C5091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390" y="81732"/>
            <a:ext cx="7954485" cy="566816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A677A2D-D554-412A-9277-1DF6FDE3E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Verbindungsaufbau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72DA361-6837-4F71-83E0-DA6AE53F9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9963" cy="4351338"/>
          </a:xfrm>
        </p:spPr>
        <p:txBody>
          <a:bodyPr/>
          <a:lstStyle/>
          <a:p>
            <a:pPr marL="0" indent="0">
              <a:buNone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Client 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  <a:sym typeface="Wingdings" panose="05000000000000000000" pitchFamily="2" charset="2"/>
              </a:rPr>
              <a:t></a:t>
            </a:r>
            <a:r>
              <a:rPr lang="de-DE" sz="1800" dirty="0">
                <a:solidFill>
                  <a:srgbClr val="000000"/>
                </a:solidFill>
                <a:latin typeface="AAAAAB+HelveticaNeue"/>
                <a:sym typeface="Wingdings" panose="05000000000000000000" pitchFamily="2" charset="2"/>
              </a:rPr>
              <a:t> Server</a:t>
            </a:r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Identifikation des Clients </a:t>
            </a: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Aushandlung einer Session-ID </a:t>
            </a: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Zuweisung einer Client-IP-Adresse </a:t>
            </a: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Festlegung der MQTT Topics für Datentransfer </a:t>
            </a: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(Optional) Aufbau kryptographischer Session Keys für Verschlüsselung </a:t>
            </a:r>
          </a:p>
          <a:p>
            <a:pPr marL="342900" indent="-342900"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B+HelveticaNeue"/>
              </a:rPr>
              <a:t>Bestätigung der Session durch ACK-Nachrichten </a:t>
            </a:r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1FFA600C-B26D-446B-B241-BB51F0F951D8}"/>
              </a:ext>
            </a:extLst>
          </p:cNvPr>
          <p:cNvSpPr/>
          <p:nvPr/>
        </p:nvSpPr>
        <p:spPr>
          <a:xfrm>
            <a:off x="0" y="6831040"/>
            <a:ext cx="6577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2003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B5E411-E1CE-49D1-9EB9-B7EFFE1A3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Testszenarien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3600FA-3D6B-49F8-B5A5-8B73EA18E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Tests und Analyse</a:t>
            </a:r>
            <a:endParaRPr lang="de-DE" sz="18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B+HelveticaNeue"/>
              </a:rPr>
              <a:t>Funktionale Tests des MQTT-Tunnels</a:t>
            </a:r>
          </a:p>
          <a:p>
            <a:pPr lvl="1"/>
            <a:r>
              <a:rPr lang="de-DE" sz="1600" b="0" i="0" u="none" strike="noStrike" baseline="0" dirty="0">
                <a:solidFill>
                  <a:srgbClr val="000000"/>
                </a:solidFill>
                <a:latin typeface="AAAAAB+HelveticaNeue"/>
              </a:rPr>
              <a:t>Performance- und Latenzmessungen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Vergleich</a:t>
            </a:r>
          </a:p>
          <a:p>
            <a:pPr lvl="2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Baseline (ohne Verschlüsselung)</a:t>
            </a:r>
          </a:p>
          <a:p>
            <a:pPr lvl="2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Secure (mit Ende-zu-Ende-Verschlüsselung)</a:t>
            </a:r>
          </a:p>
          <a:p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Testumgebung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Tunnel-Client und Tunnel-Server auf getrennten VMs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Kommunikation ausschließlich über MQTT-Broker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IP-Verkehr über virtuelles TUN-Interface (tun0)</a:t>
            </a:r>
          </a:p>
          <a:p>
            <a:pPr lvl="1"/>
            <a:r>
              <a:rPr lang="de-DE" sz="1600" dirty="0">
                <a:solidFill>
                  <a:srgbClr val="000000"/>
                </a:solidFill>
                <a:latin typeface="AAAAAB+HelveticaNeue"/>
              </a:rPr>
              <a:t>Analyse mittels </a:t>
            </a:r>
            <a:r>
              <a:rPr lang="de-DE" sz="1600" dirty="0" err="1">
                <a:solidFill>
                  <a:srgbClr val="000000"/>
                </a:solidFill>
                <a:latin typeface="AAAAAB+HelveticaNeue"/>
              </a:rPr>
              <a:t>tcpdump</a:t>
            </a:r>
            <a:endParaRPr lang="de-DE" sz="1600" dirty="0">
              <a:solidFill>
                <a:srgbClr val="000000"/>
              </a:solidFill>
              <a:latin typeface="AAAAAB+HelveticaNeue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37DC6F-2654-4C98-9EAC-D81838814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EC21FF-0FE5-472D-810E-575D5D15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FB96ECB-5C3E-4F95-A9B5-6F1DED55F244}"/>
              </a:ext>
            </a:extLst>
          </p:cNvPr>
          <p:cNvSpPr/>
          <p:nvPr/>
        </p:nvSpPr>
        <p:spPr>
          <a:xfrm>
            <a:off x="0" y="6833182"/>
            <a:ext cx="715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0364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6609F-1E46-E20B-C8E1-C690A26FD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1B8AAC-A998-7AE6-80B0-1B31730DC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Funktionale Tests (Test 1)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75DE35-FB03-246C-84D3-219D41F8E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b="1" dirty="0">
                <a:solidFill>
                  <a:srgbClr val="000000"/>
                </a:solidFill>
                <a:latin typeface="AAAAAB+HelveticaNeue"/>
              </a:rPr>
              <a:t>Test 1: Erreichbarkeit über den Tunnel</a:t>
            </a: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Ziel: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Überprüfung der grundlegenden Tunnel-Funktion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Vorgehen: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ICMP-Ping vom Tunnel-Client zur Tunnel-IP des Servers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Ergebnis: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ICMP-Pakete werden korrekt über den Tunnel übertragen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Tunnel ist funktionsfähig auf IP-Ebene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192744-CEDB-52FE-B675-FE84E100C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E6240A-3276-42B7-30FA-267E9EB1C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D19B42D-9091-1EFC-95B2-2FA71237F63B}"/>
              </a:ext>
            </a:extLst>
          </p:cNvPr>
          <p:cNvSpPr/>
          <p:nvPr/>
        </p:nvSpPr>
        <p:spPr>
          <a:xfrm>
            <a:off x="0" y="6833182"/>
            <a:ext cx="715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Inhaltsplatzhalter 7">
            <a:extLst>
              <a:ext uri="{FF2B5EF4-FFF2-40B4-BE49-F238E27FC236}">
                <a16:creationId xmlns:a16="http://schemas.microsoft.com/office/drawing/2014/main" id="{358D413D-0040-638B-4E04-C1C471A5F97A}"/>
              </a:ext>
            </a:extLst>
          </p:cNvPr>
          <p:cNvSpPr txBox="1">
            <a:spLocks/>
          </p:cNvSpPr>
          <p:nvPr/>
        </p:nvSpPr>
        <p:spPr>
          <a:xfrm>
            <a:off x="6096000" y="3407229"/>
            <a:ext cx="5002375" cy="365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600" b="0" i="0" u="none" strike="noStrike" baseline="0" dirty="0">
                <a:solidFill>
                  <a:srgbClr val="4270C4"/>
                </a:solidFill>
                <a:latin typeface="AAAAAB+HelveticaNeue"/>
              </a:rPr>
              <a:t>Ping 10.0.0.1 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682260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9C875-063F-B8D3-59CC-2883EF55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CC62DF-AA3D-573D-64CD-D75C004F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Funktionale Tests (Test 2)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C12912-D16D-B7EA-4557-53096FA62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b="1" dirty="0">
                <a:solidFill>
                  <a:srgbClr val="000000"/>
                </a:solidFill>
                <a:latin typeface="AAAAAB+HelveticaNeue"/>
              </a:rPr>
              <a:t>Test 2: TCP-Kommunikation über den Tunnel</a:t>
            </a: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Ziel: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Überprüfung transparenter TCP-Kommunikation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Vorgehen: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TCP-</a:t>
            </a:r>
            <a:r>
              <a:rPr lang="de-DE" sz="1400" dirty="0" err="1">
                <a:solidFill>
                  <a:srgbClr val="000000"/>
                </a:solidFill>
                <a:latin typeface="AAAAAB+HelveticaNeue"/>
              </a:rPr>
              <a:t>Listener</a:t>
            </a:r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 auf dem Server (</a:t>
            </a:r>
            <a:r>
              <a:rPr lang="de-DE" sz="1400" dirty="0" err="1">
                <a:solidFill>
                  <a:srgbClr val="000000"/>
                </a:solidFill>
                <a:latin typeface="AAAAAB+HelveticaNeue"/>
              </a:rPr>
              <a:t>netcat</a:t>
            </a:r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)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Aufbau einer TCP-Verbindung über den Tunnel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Übertragung einer Testnachricht 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Ergebnis: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TCP-Verbindung erfolgreich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Nutzdaten werden korrekt übertragen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1C0E40-353E-EA1B-D485-C8138C7E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FF8619-EB71-2C11-CE1A-06AEA9CAC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ED9E55E-FADE-D1FE-3983-1334752D549A}"/>
              </a:ext>
            </a:extLst>
          </p:cNvPr>
          <p:cNvSpPr/>
          <p:nvPr/>
        </p:nvSpPr>
        <p:spPr>
          <a:xfrm>
            <a:off x="0" y="6833182"/>
            <a:ext cx="715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9ECF0DA2-9593-1483-E0EC-B8B95984A533}"/>
              </a:ext>
            </a:extLst>
          </p:cNvPr>
          <p:cNvSpPr txBox="1">
            <a:spLocks/>
          </p:cNvSpPr>
          <p:nvPr/>
        </p:nvSpPr>
        <p:spPr>
          <a:xfrm>
            <a:off x="5499229" y="3419978"/>
            <a:ext cx="5002375" cy="365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800" b="0" i="0" u="none" strike="noStrike" baseline="0" dirty="0" err="1">
                <a:solidFill>
                  <a:srgbClr val="4270C4"/>
                </a:solidFill>
                <a:latin typeface="AAAAAB+HelveticaNeue"/>
              </a:rPr>
              <a:t>nc</a:t>
            </a:r>
            <a:r>
              <a:rPr lang="de-DE" sz="1800" b="0" i="0" u="none" strike="noStrike" baseline="0" dirty="0">
                <a:solidFill>
                  <a:srgbClr val="4270C4"/>
                </a:solidFill>
                <a:latin typeface="AAAAAB+HelveticaNeue"/>
              </a:rPr>
              <a:t> -I -p 12345</a:t>
            </a:r>
            <a:endParaRPr lang="de-DE" sz="1200" dirty="0"/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FF516FBA-5E82-1A90-478B-D58B6973CB36}"/>
              </a:ext>
            </a:extLst>
          </p:cNvPr>
          <p:cNvSpPr txBox="1">
            <a:spLocks/>
          </p:cNvSpPr>
          <p:nvPr/>
        </p:nvSpPr>
        <p:spPr>
          <a:xfrm>
            <a:off x="5499228" y="3964490"/>
            <a:ext cx="5002376" cy="365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de-DE" sz="1800" b="0" i="0" u="none" strike="noStrike" baseline="0" dirty="0" err="1">
                <a:solidFill>
                  <a:srgbClr val="034FAD"/>
                </a:solidFill>
                <a:latin typeface="AAAAAB+HelveticaNeue"/>
              </a:rPr>
              <a:t>printf</a:t>
            </a:r>
            <a:r>
              <a:rPr lang="de-DE" sz="1800" b="0" i="0" u="none" strike="noStrike" baseline="0" dirty="0">
                <a:solidFill>
                  <a:srgbClr val="034FAD"/>
                </a:solidFill>
                <a:latin typeface="AAAAAB+HelveticaNeue"/>
              </a:rPr>
              <a:t> </a:t>
            </a:r>
            <a:r>
              <a:rPr lang="de-DE" sz="1800" b="0" i="0" u="none" strike="noStrike" baseline="0" dirty="0">
                <a:solidFill>
                  <a:srgbClr val="082E67"/>
                </a:solidFill>
                <a:latin typeface="AAAAAB+HelveticaNeue"/>
              </a:rPr>
              <a:t>'%s\n' 'TESTNACHRICHT' </a:t>
            </a:r>
            <a:r>
              <a:rPr lang="de-DE" sz="1800" b="0" i="0" u="none" strike="noStrike" baseline="0" dirty="0">
                <a:solidFill>
                  <a:srgbClr val="CF202C"/>
                </a:solidFill>
                <a:latin typeface="AAAAAB+HelveticaNeue"/>
              </a:rPr>
              <a:t>| </a:t>
            </a:r>
            <a:r>
              <a:rPr lang="de-DE" sz="1800" b="0" i="0" u="none" strike="noStrike" baseline="0" dirty="0" err="1">
                <a:solidFill>
                  <a:srgbClr val="4270C4"/>
                </a:solidFill>
                <a:latin typeface="AAAAAB+HelveticaNeue"/>
              </a:rPr>
              <a:t>nc</a:t>
            </a:r>
            <a:r>
              <a:rPr lang="de-DE" sz="1800" b="0" i="0" u="none" strike="noStrike" baseline="0" dirty="0">
                <a:solidFill>
                  <a:srgbClr val="4270C4"/>
                </a:solidFill>
                <a:latin typeface="AAAAAB+HelveticaNeue"/>
              </a:rPr>
              <a:t> 10.0.0.1 12345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3131682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C8173-A317-14CA-B07D-616E6E86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CF6696-4F5A-379C-B5FD-927EAEF7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Performance &amp; Latenz (Überblick)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3535324-D867-397A-C099-5F8024A5B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Messwerkzeug: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iperf3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Untersuchte Metriken: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TCP-Durchsatz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UDP-Durchsatz</a:t>
            </a:r>
          </a:p>
          <a:p>
            <a:pPr lvl="1"/>
            <a:r>
              <a:rPr lang="de-DE" sz="1400" dirty="0" err="1">
                <a:solidFill>
                  <a:srgbClr val="000000"/>
                </a:solidFill>
                <a:latin typeface="AAAAAB+HelveticaNeue"/>
              </a:rPr>
              <a:t>Jitter</a:t>
            </a:r>
            <a:endParaRPr lang="de-DE" sz="1400" dirty="0">
              <a:solidFill>
                <a:srgbClr val="000000"/>
              </a:solidFill>
              <a:latin typeface="AAAAAB+HelveticaNeue"/>
            </a:endParaRP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Paketverlust</a:t>
            </a: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Vergleich: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Baseline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Secure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F9B723-75FE-2074-8589-90D1C5A1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379D51-CFCB-B53C-843B-D1B6880F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AA836E6-7DF6-63D1-4E24-3E5A90B45B2B}"/>
              </a:ext>
            </a:extLst>
          </p:cNvPr>
          <p:cNvSpPr/>
          <p:nvPr/>
        </p:nvSpPr>
        <p:spPr>
          <a:xfrm>
            <a:off x="0" y="6833182"/>
            <a:ext cx="715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864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6048A-822A-E7A3-943E-2D1892E8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C084C-B51A-64F1-3FE4-2DDA00EF0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TCP-Durchsatz</a:t>
            </a:r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D2A55BB5-6367-435C-AF83-36AC1B6A69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718542"/>
              </p:ext>
            </p:extLst>
          </p:nvPr>
        </p:nvGraphicFramePr>
        <p:xfrm>
          <a:off x="838200" y="1825625"/>
          <a:ext cx="4925291" cy="3700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1444D9-BE75-64A7-EE32-30648D2E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8D828E-A80A-903E-44D0-73F97813F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B5C24F8-51A0-36D0-D796-6F0DEBD46BB6}"/>
              </a:ext>
            </a:extLst>
          </p:cNvPr>
          <p:cNvSpPr/>
          <p:nvPr/>
        </p:nvSpPr>
        <p:spPr>
          <a:xfrm>
            <a:off x="0" y="6833182"/>
            <a:ext cx="715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7D751BE2-B524-226E-2DC6-E77FBB2C8F0D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Interpretation: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Verschlüsselung verursacht moderaten Overhead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Durchsatz primär durch MQTT-Transport limitiert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sz="1200" dirty="0">
              <a:solidFill>
                <a:srgbClr val="000000"/>
              </a:solidFill>
              <a:latin typeface="AAAAAB+HelveticaNeue"/>
            </a:endParaRPr>
          </a:p>
        </p:txBody>
      </p:sp>
    </p:spTree>
    <p:extLst>
      <p:ext uri="{BB962C8B-B14F-4D97-AF65-F5344CB8AC3E}">
        <p14:creationId xmlns:p14="http://schemas.microsoft.com/office/powerpoint/2010/main" val="760931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FCFFB-EC30-37F8-1CDC-4E3C46A6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49FB25-1798-1ED4-A836-20670B1D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TCP-Durchsatz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77BAF8-9A44-CBE1-BD97-268CB02B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88A7A5-C037-0638-53FD-30800DC5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6F447EF-67B5-6EC0-91BA-4914FF3507C7}"/>
              </a:ext>
            </a:extLst>
          </p:cNvPr>
          <p:cNvSpPr/>
          <p:nvPr/>
        </p:nvSpPr>
        <p:spPr>
          <a:xfrm>
            <a:off x="0" y="6833182"/>
            <a:ext cx="715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4C75402A-E51E-C965-EC81-12735A53462F}"/>
              </a:ext>
            </a:extLst>
          </p:cNvPr>
          <p:cNvSpPr txBox="1">
            <a:spLocks/>
          </p:cNvSpPr>
          <p:nvPr/>
        </p:nvSpPr>
        <p:spPr>
          <a:xfrm>
            <a:off x="6391563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Interpretation: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Verschlüsselung verursacht moderaten Overhead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Durchsatz primär durch MQTT-Transport limitiert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sz="1200" dirty="0">
              <a:solidFill>
                <a:srgbClr val="000000"/>
              </a:solidFill>
              <a:latin typeface="AAAAAB+HelveticaNeue"/>
            </a:endParaRPr>
          </a:p>
        </p:txBody>
      </p:sp>
      <p:graphicFrame>
        <p:nvGraphicFramePr>
          <p:cNvPr id="8" name="Inhaltsplatzhalter 7">
            <a:extLst>
              <a:ext uri="{FF2B5EF4-FFF2-40B4-BE49-F238E27FC236}">
                <a16:creationId xmlns:a16="http://schemas.microsoft.com/office/drawing/2014/main" id="{08C267A6-0818-BB4F-0BF2-CA1CCD68AB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9970859"/>
              </p:ext>
            </p:extLst>
          </p:nvPr>
        </p:nvGraphicFramePr>
        <p:xfrm>
          <a:off x="838198" y="1825625"/>
          <a:ext cx="5461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3469612686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3814551690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1573257764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3173738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Zielrate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Modus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Paketverlust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Jitter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182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~ 1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134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Secure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~ 1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098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~ 2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039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Secure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~ 2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12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10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~ 38 %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~ 0,7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230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10 Mbit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Secure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~ 23 %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~ 1 </a:t>
                      </a:r>
                      <a:r>
                        <a:rPr lang="de-DE" dirty="0" err="1"/>
                        <a:t>ms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575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91464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60EC3-9EF7-C80B-8693-304F5B27F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AF2387-63AA-0F25-C7B3-717CFB38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Einordnung der Ergebnisse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685C55-EBCF-3A4F-E9B2-2106819C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04883-86C6-4B7F-AADA-F8AAADBE6698}" type="datetime1">
              <a:rPr lang="de-DE" smtClean="0"/>
              <a:t>29.01.2026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EA5782-9997-45B5-7337-DC4D321E8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64E32E7-C90D-F862-8AAB-3269A14C40C8}"/>
              </a:ext>
            </a:extLst>
          </p:cNvPr>
          <p:cNvSpPr/>
          <p:nvPr/>
        </p:nvSpPr>
        <p:spPr>
          <a:xfrm>
            <a:off x="0" y="6833182"/>
            <a:ext cx="7153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A8A3CF0-0CFB-1041-EA64-8C54E41EF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Einordnung: 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Tunnel funktioniert korrekt für ICMP, TCP und UDP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Performance deutlich geringer als natives Netzwerk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Hauptlimitierung:</a:t>
            </a:r>
          </a:p>
          <a:p>
            <a:pPr lvl="2"/>
            <a:r>
              <a:rPr lang="de-DE" sz="1000" dirty="0">
                <a:solidFill>
                  <a:srgbClr val="000000"/>
                </a:solidFill>
                <a:latin typeface="AAAAAB+HelveticaNeue"/>
              </a:rPr>
              <a:t>MQTT-Overhead</a:t>
            </a:r>
          </a:p>
          <a:p>
            <a:pPr lvl="2"/>
            <a:r>
              <a:rPr lang="de-DE" sz="1000" dirty="0">
                <a:solidFill>
                  <a:srgbClr val="000000"/>
                </a:solidFill>
                <a:latin typeface="AAAAAB+HelveticaNeue"/>
              </a:rPr>
              <a:t>Hohe Nachrichtenfrequenz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Verschlüsselung:</a:t>
            </a:r>
          </a:p>
          <a:p>
            <a:pPr lvl="2"/>
            <a:r>
              <a:rPr lang="de-DE" sz="1000" dirty="0">
                <a:solidFill>
                  <a:srgbClr val="000000"/>
                </a:solidFill>
                <a:latin typeface="AAAAAB+HelveticaNeue"/>
              </a:rPr>
              <a:t>Messbarer, aber nicht dominanter Einfluss</a:t>
            </a:r>
          </a:p>
          <a:p>
            <a:pPr marL="0" indent="0">
              <a:buNone/>
            </a:pPr>
            <a:endParaRPr lang="de-DE" sz="1200" b="0" i="0" u="none" strike="noStrike" baseline="0" dirty="0">
              <a:solidFill>
                <a:srgbClr val="000000"/>
              </a:solidFill>
              <a:latin typeface="AAAAAB+HelveticaNeue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000000"/>
                </a:solidFill>
                <a:latin typeface="AAAAAB+HelveticaNeue"/>
              </a:rPr>
              <a:t>Fazit: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Geeignet für:</a:t>
            </a:r>
          </a:p>
          <a:p>
            <a:pPr lvl="2"/>
            <a:r>
              <a:rPr lang="de-DE" sz="1000" dirty="0">
                <a:solidFill>
                  <a:srgbClr val="000000"/>
                </a:solidFill>
                <a:latin typeface="AAAAAB+HelveticaNeue"/>
              </a:rPr>
              <a:t>Geringe bis mittlere Datenraten</a:t>
            </a:r>
          </a:p>
          <a:p>
            <a:pPr lvl="2"/>
            <a:r>
              <a:rPr lang="de-DE" sz="1000" dirty="0">
                <a:solidFill>
                  <a:srgbClr val="000000"/>
                </a:solidFill>
                <a:latin typeface="AAAAAB+HelveticaNeue"/>
              </a:rPr>
              <a:t>Szenarien mit Fokus auf Kapselung und Tarnung</a:t>
            </a:r>
          </a:p>
          <a:p>
            <a:pPr lvl="1"/>
            <a:r>
              <a:rPr lang="de-DE" sz="1400" dirty="0">
                <a:solidFill>
                  <a:srgbClr val="000000"/>
                </a:solidFill>
                <a:latin typeface="AAAAAB+HelveticaNeue"/>
              </a:rPr>
              <a:t>Nicht geeignet für Hochdurchsatz-Anforderungen</a:t>
            </a:r>
          </a:p>
        </p:txBody>
      </p:sp>
    </p:spTree>
    <p:extLst>
      <p:ext uri="{BB962C8B-B14F-4D97-AF65-F5344CB8AC3E}">
        <p14:creationId xmlns:p14="http://schemas.microsoft.com/office/powerpoint/2010/main" val="2125197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FDA52-3A66-4EB7-ACBC-F2BE2EE5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131D16-DE72-4E07-A08F-F0EB39CCB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00667A-EBC3-4430-8719-4B3FB9EB3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73E98-CAB5-4576-A185-F6EEF26D0B57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88E5B4-7D4A-4335-8548-29985101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F1ADEE7-95ED-40C6-8A23-F8AD035EE303}"/>
              </a:ext>
            </a:extLst>
          </p:cNvPr>
          <p:cNvSpPr/>
          <p:nvPr/>
        </p:nvSpPr>
        <p:spPr>
          <a:xfrm>
            <a:off x="0" y="6833182"/>
            <a:ext cx="11761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12926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346EEE-2633-4E48-B75E-EC142BBFA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6F13D3-224E-40B1-BC2E-EC0C4006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08CC-F304-4AD7-81CF-0B44FE19C74A}" type="datetime1">
              <a:rPr lang="de-DE" smtClean="0"/>
              <a:t>28.01.2026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AF3148-2D62-4259-853A-D152067E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Fachpraktikum 63585                                                                           IT-Sicherheit, IT-Forensik und Datenschutz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BEA9473-D9B5-40A0-9651-4714F1100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5259C9D-04EB-47EE-96C4-056FE5B17997}"/>
              </a:ext>
            </a:extLst>
          </p:cNvPr>
          <p:cNvSpPr/>
          <p:nvPr/>
        </p:nvSpPr>
        <p:spPr>
          <a:xfrm>
            <a:off x="3422223" y="2260325"/>
            <a:ext cx="53475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de-DE" sz="8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Bei Fragen, fragen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10FF051B-6CE9-4F46-98FD-80C175499803}"/>
              </a:ext>
            </a:extLst>
          </p:cNvPr>
          <p:cNvSpPr/>
          <p:nvPr/>
        </p:nvSpPr>
        <p:spPr>
          <a:xfrm>
            <a:off x="0" y="6833182"/>
            <a:ext cx="12265200" cy="3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2743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09E281-7294-48A6-8FA7-813E056D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1522C8-61ED-4E27-8E85-733B3617C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https://docs.oracle.com/cd/A97335_02/apps.102/a83722/overvie3.htm#1014532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https://www.ibm.com/docs/en/app-connect/11.0.0?topic=corba-common-object-request-broker-architecture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00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https://refubium.fu-berlin.de/bitstream/handle/fub188/4102/12_chap12.pdf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https://learn.microsoK.com/de-de/dotnet/standard/naLve-interop/type-marshalling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https://www-ois-com.translate.goog/index.php/about-corba/? 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x_tr_sl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=en&amp;_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x_tr_tl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x_tr_hl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x_tr_pto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sge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#:~:text=CORBA%20is%20the%20world's%20leading,programm ing%20languages%2C%20and%20operating%20systems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N+TimesNewRomanPSMT"/>
              </a:rPr>
              <a:t>.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https://www.elpassion.com/de/glossary/what-is-common-object-request-broker-architecture-corba#:~: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N+TimesNewRomanPSMT"/>
              </a:rPr>
              <a:t>text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=Eine%20der%20Hauptfunktionen%20von%20CORBA%20(%20Common,zwischen%20verschiedenen%2 0Plattformen%20und%20Programmiersprachen%20zu%20unterst%C3%BCtzen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N+TimesNewRomanPSMT"/>
              </a:rPr>
              <a:t>.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https://www.omg.org/corba/faq.htm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N+TimesNewRomanPSMT"/>
              </a:rPr>
              <a:t>https://hilfe.comarch.de/cee/index.php/documentation/corba-schnittstelle/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https://www.arl.wustl.edu/PublicaLons/2000-04/comp00fgk.pdf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https://umu.diva-portal.org/smash/get/diva2:1987951/FULLTEXT01.pdf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https://docs.oasis-open.org/mq$/mq$/v5.0/mq$-v5.0.html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https://iot.telekom.com/de/blog/mq$-protokoll-funkLonsweise-anwendungen-und-vorteile-im-iot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https://www.opc-router.de/was-ist-mq$/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https://aws-amazon-com.translate.goog/what-is/mq$/? 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x_tr_sl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=en&amp;_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x_tr_tl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x_tr_hl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=de&amp;_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x_tr_pto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sge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#:~:text=Smart%20sensors%2C%20wearables%2C%20and%20oth er,can%20communicate%20IoT%20data%20efficiently</a:t>
            </a:r>
            <a:r>
              <a:rPr lang="de-DE" sz="1800" b="0" i="0" u="none" strike="noStrike" baseline="0" dirty="0">
                <a:solidFill>
                  <a:srgbClr val="000000"/>
                </a:solidFill>
                <a:latin typeface="AAAAAQ+Calibri"/>
              </a:rPr>
              <a:t>.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https://www.all-electronics.de/automaLsierung/basiswissen-mq$-was-kann-das-iot-kommunikaLons-protokoll/ 700581#:~: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text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=Antwort%205:%20MQTT%20verwendet%20QoS%2DModi%2C%20um%20die,QoS%2DStufen: %200%2C%201%20und%202%2C%20die%20verschiedene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https://www.pubnub.com/blog/what-is-mq$-use-cases/ 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https://www.ibm.com/docs/de/ibm-mq/9.3.x?topic=overview-mq-telemetry-transport-protocol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http://www.bbs-1.de/bbs1/umat/netze/netz8.html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https://www.kernel.org/doc/html/latest/networking/tuntap.html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https://www.researchgate.net/publicaLon/317391853_IoT_real_Lme_data_acquisiLon_using_MQTT_protocol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EvaluaLon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of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MQTT Bridge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Architectures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in a Cross-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OrganizaLonal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Context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von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Keila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Lima,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Tosin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Daniel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Oyetoyan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,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Rogardt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 </a:t>
            </a:r>
            <a:r>
              <a:rPr lang="de-DE" sz="1800" b="0" i="0" u="none" strike="noStrike" baseline="0" dirty="0" err="1">
                <a:solidFill>
                  <a:srgbClr val="0000FF"/>
                </a:solidFill>
                <a:latin typeface="AAAAAQ+Calibri"/>
              </a:rPr>
              <a:t>Heldal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, Wilhelm Hasselbring aus 01/2025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https://www.emqx.com/en/blog/mq$5-new-features-payload-format-indicator-and-content-type</a:t>
            </a: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https://mymq$.app/de/mq$-qos-levels </a:t>
            </a:r>
            <a:endParaRPr lang="de-DE" sz="1800" dirty="0">
              <a:solidFill>
                <a:srgbClr val="000000"/>
              </a:solidFill>
              <a:latin typeface="AAAAAQ+Calibri"/>
            </a:endParaRPr>
          </a:p>
          <a:p>
            <a:pPr marL="216000" indent="-342900">
              <a:spcBef>
                <a:spcPts val="200"/>
              </a:spcBef>
              <a:buAutoNum type="arabicPeriod"/>
            </a:pP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h</a:t>
            </a:r>
            <a:r>
              <a:rPr lang="de-DE" sz="1800" dirty="0">
                <a:solidFill>
                  <a:srgbClr val="0000FF"/>
                </a:solidFill>
                <a:latin typeface="AAAAAQ+Calibri"/>
              </a:rPr>
              <a:t>tt</a:t>
            </a:r>
            <a:r>
              <a:rPr lang="de-DE" sz="1800" b="0" i="0" u="none" strike="noStrike" baseline="0" dirty="0">
                <a:solidFill>
                  <a:srgbClr val="0000FF"/>
                </a:solidFill>
                <a:latin typeface="AAAAAQ+Calibri"/>
              </a:rPr>
              <a:t>ps://phoenixnap.de/Glossar/Idle-Bedeutung 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BE3CD-0CE0-49DE-8D55-6C125CC1C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131BF-7724-4913-869B-5D2E814B684B}" type="datetime1">
              <a:rPr lang="de-DE" smtClean="0"/>
              <a:t>28.01.2026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4BBA98-4892-4468-9342-5A81ECF5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Fachpraktikum 63585                                                                           IT-Sicherheit, IT-Forensik und Datenschutz</a:t>
            </a:r>
          </a:p>
        </p:txBody>
      </p:sp>
    </p:spTree>
    <p:extLst>
      <p:ext uri="{BB962C8B-B14F-4D97-AF65-F5344CB8AC3E}">
        <p14:creationId xmlns:p14="http://schemas.microsoft.com/office/powerpoint/2010/main" val="1204354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1988</Words>
  <Application>Microsoft Office PowerPoint</Application>
  <PresentationFormat>Breitbild</PresentationFormat>
  <Paragraphs>299</Paragraphs>
  <Slides>23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3" baseType="lpstr">
      <vt:lpstr>AAAAAB+HelveticaNeue</vt:lpstr>
      <vt:lpstr>AAAAAI+HelveticaNeue-Italic</vt:lpstr>
      <vt:lpstr>AAAAAJ+Helvetica</vt:lpstr>
      <vt:lpstr>AAAAAN+TimesNewRomanPSMT</vt:lpstr>
      <vt:lpstr>AAAAAQ+Calibri</vt:lpstr>
      <vt:lpstr>Arial</vt:lpstr>
      <vt:lpstr>Calibri</vt:lpstr>
      <vt:lpstr>Calibri Light</vt:lpstr>
      <vt:lpstr>Wingdings</vt:lpstr>
      <vt:lpstr>Office Theme</vt:lpstr>
      <vt:lpstr>Tunneln von Nachrichten innerhalb von Massagebroker basierten Protokollen</vt:lpstr>
      <vt:lpstr>Inhalt</vt:lpstr>
      <vt:lpstr>Vorstellung Corba</vt:lpstr>
      <vt:lpstr>Vorstellung MQTT</vt:lpstr>
      <vt:lpstr>Entscheidung </vt:lpstr>
      <vt:lpstr>Systemdesign</vt:lpstr>
      <vt:lpstr>Softwareaufbau</vt:lpstr>
      <vt:lpstr>Softwareablauf (Start)</vt:lpstr>
      <vt:lpstr>Softwareablauf (Betrieb)</vt:lpstr>
      <vt:lpstr>Softwareablauf</vt:lpstr>
      <vt:lpstr>Softwareablauf</vt:lpstr>
      <vt:lpstr>Softwareaufruf</vt:lpstr>
      <vt:lpstr>Verbindungsaufbau</vt:lpstr>
      <vt:lpstr>Testszenarien</vt:lpstr>
      <vt:lpstr>Funktionale Tests (Test 1)</vt:lpstr>
      <vt:lpstr>Funktionale Tests (Test 2)</vt:lpstr>
      <vt:lpstr>Performance &amp; Latenz (Überblick)</vt:lpstr>
      <vt:lpstr>TCP-Durchsatz</vt:lpstr>
      <vt:lpstr>TCP-Durchsatz</vt:lpstr>
      <vt:lpstr>Einordnung der Ergebnisse</vt:lpstr>
      <vt:lpstr>Fazit</vt:lpstr>
      <vt:lpstr>PowerPoint-Präsentation</vt:lpstr>
      <vt:lpstr>Quellen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Wetzlar, Robin</dc:creator>
  <cp:lastModifiedBy>Carsten</cp:lastModifiedBy>
  <cp:revision>32</cp:revision>
  <dcterms:created xsi:type="dcterms:W3CDTF">2026-01-19T12:07:04Z</dcterms:created>
  <dcterms:modified xsi:type="dcterms:W3CDTF">2026-01-29T13:15:00Z</dcterms:modified>
</cp:coreProperties>
</file>