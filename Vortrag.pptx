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6"/>
  </p:notesMasterIdLst>
  <p:sldIdLst>
    <p:sldId id="259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77" r:id="rId10"/>
    <p:sldId id="279" r:id="rId11"/>
    <p:sldId id="280" r:id="rId12"/>
    <p:sldId id="281" r:id="rId13"/>
    <p:sldId id="282" r:id="rId14"/>
    <p:sldId id="267" r:id="rId15"/>
    <p:sldId id="268" r:id="rId16"/>
    <p:sldId id="269" r:id="rId17"/>
    <p:sldId id="271" r:id="rId18"/>
    <p:sldId id="273" r:id="rId19"/>
    <p:sldId id="272" r:id="rId20"/>
    <p:sldId id="274" r:id="rId21"/>
    <p:sldId id="283" r:id="rId22"/>
    <p:sldId id="270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schnitt ohne Titel" id="{B7FEB1E5-28BF-4FDF-9467-68706E5B3862}">
          <p14:sldIdLst>
            <p14:sldId id="259"/>
          </p14:sldIdLst>
        </p14:section>
        <p14:section name="Abschnitt ohne Titel" id="{10D71CEC-87F0-4E32-B3B2-A5A12562DAD2}">
          <p14:sldIdLst>
            <p14:sldId id="257"/>
            <p14:sldId id="258"/>
            <p14:sldId id="260"/>
            <p14:sldId id="262"/>
            <p14:sldId id="263"/>
            <p14:sldId id="264"/>
            <p14:sldId id="265"/>
            <p14:sldId id="277"/>
            <p14:sldId id="279"/>
            <p14:sldId id="280"/>
            <p14:sldId id="281"/>
            <p14:sldId id="282"/>
            <p14:sldId id="267"/>
            <p14:sldId id="268"/>
            <p14:sldId id="269"/>
            <p14:sldId id="271"/>
            <p14:sldId id="273"/>
            <p14:sldId id="272"/>
            <p14:sldId id="274"/>
            <p14:sldId id="283"/>
            <p14:sldId id="270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tzlar, Robin" initials="WR" lastIdx="2" clrIdx="0">
    <p:extLst>
      <p:ext uri="{19B8F6BF-5375-455C-9EA6-DF929625EA0E}">
        <p15:presenceInfo xmlns:p15="http://schemas.microsoft.com/office/powerpoint/2012/main" userId="Wetzlar, Rob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0928744700104"/>
          <c:y val="6.181945224071176E-2"/>
          <c:w val="0.89890712552998964"/>
          <c:h val="0.615294716605160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Tabelle1!$A$3</c:f>
              <c:strCache>
                <c:ptCount val="1"/>
                <c:pt idx="0">
                  <c:v>Durchsatz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Tabelle1!$B$3:$I$3</c:f>
              <c:numCache>
                <c:formatCode>General</c:formatCode>
                <c:ptCount val="8"/>
                <c:pt idx="0">
                  <c:v>2650</c:v>
                </c:pt>
                <c:pt idx="1">
                  <c:v>10</c:v>
                </c:pt>
                <c:pt idx="2">
                  <c:v>8.6999999999999993</c:v>
                </c:pt>
                <c:pt idx="3">
                  <c:v>2.6</c:v>
                </c:pt>
                <c:pt idx="4">
                  <c:v>5.9</c:v>
                </c:pt>
                <c:pt idx="5">
                  <c:v>2.65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C0-490F-B421-877290987E6D}"/>
            </c:ext>
          </c:extLst>
        </c:ser>
        <c:ser>
          <c:idx val="1"/>
          <c:order val="1"/>
          <c:tx>
            <c:strRef>
              <c:f>Tabelle1!#REF!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C0-490F-B421-877290987E6D}"/>
            </c:ext>
          </c:extLst>
        </c:ser>
        <c:ser>
          <c:idx val="2"/>
          <c:order val="2"/>
          <c:tx>
            <c:strRef>
              <c:f>Tabelle1!$A$4</c:f>
              <c:strCache>
                <c:ptCount val="1"/>
                <c:pt idx="0">
                  <c:v>Zieldurchsatz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Tabelle1!$B$4:$I$4</c:f>
              <c:numCache>
                <c:formatCode>General</c:formatCode>
                <c:ptCount val="8"/>
                <c:pt idx="1">
                  <c:v>10</c:v>
                </c:pt>
                <c:pt idx="6">
                  <c:v>7.4</c:v>
                </c:pt>
                <c:pt idx="7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C0-490F-B421-877290987E6D}"/>
            </c:ext>
          </c:extLst>
        </c:ser>
        <c:ser>
          <c:idx val="3"/>
          <c:order val="3"/>
          <c:tx>
            <c:strRef>
              <c:f>Tabelle1!$A$5</c:f>
              <c:strCache>
                <c:ptCount val="1"/>
                <c:pt idx="0">
                  <c:v>Paketverlust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Tabelle1!$B$5:$I$5</c:f>
              <c:numCache>
                <c:formatCode>General</c:formatCode>
                <c:ptCount val="8"/>
                <c:pt idx="1">
                  <c:v>0</c:v>
                </c:pt>
                <c:pt idx="6">
                  <c:v>23</c:v>
                </c:pt>
                <c:pt idx="7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9C0-490F-B421-877290987E6D}"/>
            </c:ext>
          </c:extLst>
        </c:ser>
        <c:ser>
          <c:idx val="4"/>
          <c:order val="4"/>
          <c:tx>
            <c:strRef>
              <c:f>Tabelle1!$A$7</c:f>
              <c:strCache>
                <c:ptCount val="1"/>
                <c:pt idx="0">
                  <c:v>Jitter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Tabelle1!$B$7:$I$7</c:f>
              <c:numCache>
                <c:formatCode>General</c:formatCode>
                <c:ptCount val="8"/>
                <c:pt idx="1">
                  <c:v>0.1</c:v>
                </c:pt>
                <c:pt idx="6">
                  <c:v>1.5</c:v>
                </c:pt>
                <c:pt idx="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C0-490F-B421-877290987E6D}"/>
            </c:ext>
          </c:extLst>
        </c:ser>
        <c:ser>
          <c:idx val="5"/>
          <c:order val="5"/>
          <c:tx>
            <c:strRef>
              <c:f>Tabelle1!$A$8</c:f>
              <c:strCache>
                <c:ptCount val="1"/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Tabelle1!$B$8:$I$8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5-C9C0-490F-B421-877290987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2463872"/>
        <c:axId val="1032463544"/>
      </c:barChart>
      <c:catAx>
        <c:axId val="1032463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32463544"/>
        <c:crosses val="autoZero"/>
        <c:auto val="1"/>
        <c:lblAlgn val="ctr"/>
        <c:lblOffset val="100"/>
        <c:noMultiLvlLbl val="0"/>
      </c:catAx>
      <c:valAx>
        <c:axId val="103246354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32463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5"/>
        <c:delete val="1"/>
      </c:legendEntry>
      <c:layout>
        <c:manualLayout>
          <c:xMode val="edge"/>
          <c:yMode val="edge"/>
          <c:x val="0.66042390501315462"/>
          <c:y val="8.9918982001335079E-2"/>
          <c:w val="0.26613963199169199"/>
          <c:h val="0.148577765397170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TCP-Durchsatz in [MBit/s]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3.9004086355103031E-2"/>
          <c:y val="0.12403016185858994"/>
          <c:w val="0.960995913644897"/>
          <c:h val="0.8074223169740607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(Tabelle1!$B$2,Tabelle1!$D$2:$G$2)</c:f>
              <c:strCache>
                <c:ptCount val="5"/>
                <c:pt idx="0">
                  <c:v>TCP</c:v>
                </c:pt>
                <c:pt idx="1">
                  <c:v>Client &lt;--&gt; Server</c:v>
                </c:pt>
                <c:pt idx="2">
                  <c:v>Reversebetrieb</c:v>
                </c:pt>
                <c:pt idx="3">
                  <c:v>Client &lt;--&gt; Server</c:v>
                </c:pt>
                <c:pt idx="4">
                  <c:v>Reversebetrieb</c:v>
                </c:pt>
              </c:strCache>
            </c:strRef>
          </c:cat>
          <c:val>
            <c:numRef>
              <c:f>(Tabelle1!$B$3,Tabelle1!$D$3:$G$3)</c:f>
              <c:numCache>
                <c:formatCode>General</c:formatCode>
                <c:ptCount val="5"/>
                <c:pt idx="0">
                  <c:v>2650</c:v>
                </c:pt>
                <c:pt idx="1">
                  <c:v>8.6999999999999993</c:v>
                </c:pt>
                <c:pt idx="2">
                  <c:v>2.6</c:v>
                </c:pt>
                <c:pt idx="3">
                  <c:v>5.9</c:v>
                </c:pt>
                <c:pt idx="4">
                  <c:v>2.65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1-43DC-BAB7-FEA05FB4881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01895840"/>
        <c:axId val="701896496"/>
      </c:barChart>
      <c:catAx>
        <c:axId val="70189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01896496"/>
        <c:crosses val="autoZero"/>
        <c:auto val="1"/>
        <c:lblAlgn val="ctr"/>
        <c:lblOffset val="100"/>
        <c:noMultiLvlLbl val="0"/>
      </c:catAx>
      <c:valAx>
        <c:axId val="701896496"/>
        <c:scaling>
          <c:orientation val="minMax"/>
          <c:max val="1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01895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0928744700104"/>
          <c:y val="6.181945224071176E-2"/>
          <c:w val="0.89890712552998964"/>
          <c:h val="0.615294716605160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Tabelle1!$A$3</c:f>
              <c:strCache>
                <c:ptCount val="1"/>
                <c:pt idx="0">
                  <c:v>Durchsatz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Tabelle1!$B$3:$I$3</c:f>
              <c:numCache>
                <c:formatCode>General</c:formatCode>
                <c:ptCount val="8"/>
                <c:pt idx="0">
                  <c:v>2650</c:v>
                </c:pt>
                <c:pt idx="1">
                  <c:v>10</c:v>
                </c:pt>
                <c:pt idx="2">
                  <c:v>8.6999999999999993</c:v>
                </c:pt>
                <c:pt idx="3">
                  <c:v>2.6</c:v>
                </c:pt>
                <c:pt idx="4">
                  <c:v>5.9</c:v>
                </c:pt>
                <c:pt idx="5">
                  <c:v>2.65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C0-490F-B421-877290987E6D}"/>
            </c:ext>
          </c:extLst>
        </c:ser>
        <c:ser>
          <c:idx val="1"/>
          <c:order val="1"/>
          <c:tx>
            <c:strRef>
              <c:f>Tabelle1!$A$4</c:f>
              <c:strCache>
                <c:ptCount val="1"/>
                <c:pt idx="0">
                  <c:v>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Tabelle1!$B$4:$I$4</c:f>
              <c:numCache>
                <c:formatCode>General</c:formatCode>
                <c:ptCount val="8"/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C0-490F-B421-877290987E6D}"/>
            </c:ext>
          </c:extLst>
        </c:ser>
        <c:ser>
          <c:idx val="2"/>
          <c:order val="2"/>
          <c:tx>
            <c:strRef>
              <c:f>Tabelle1!$A$5</c:f>
              <c:strCache>
                <c:ptCount val="1"/>
                <c:pt idx="0">
                  <c:v>Zieldurchsatz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Tabelle1!$B$5:$I$5</c:f>
              <c:numCache>
                <c:formatCode>General</c:formatCode>
                <c:ptCount val="8"/>
                <c:pt idx="1">
                  <c:v>10</c:v>
                </c:pt>
                <c:pt idx="6">
                  <c:v>7.4</c:v>
                </c:pt>
                <c:pt idx="7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C0-490F-B421-877290987E6D}"/>
            </c:ext>
          </c:extLst>
        </c:ser>
        <c:ser>
          <c:idx val="3"/>
          <c:order val="3"/>
          <c:tx>
            <c:strRef>
              <c:f>Tabelle1!$A$6</c:f>
              <c:strCache>
                <c:ptCount val="1"/>
                <c:pt idx="0">
                  <c:v>Paketverlust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Tabelle1!$B$6:$I$6</c:f>
              <c:numCache>
                <c:formatCode>General</c:formatCode>
                <c:ptCount val="8"/>
                <c:pt idx="1">
                  <c:v>0</c:v>
                </c:pt>
                <c:pt idx="6">
                  <c:v>23</c:v>
                </c:pt>
                <c:pt idx="7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9C0-490F-B421-877290987E6D}"/>
            </c:ext>
          </c:extLst>
        </c:ser>
        <c:ser>
          <c:idx val="4"/>
          <c:order val="4"/>
          <c:tx>
            <c:strRef>
              <c:f>Tabelle1!$A$7</c:f>
              <c:strCache>
                <c:ptCount val="1"/>
                <c:pt idx="0">
                  <c:v>Jitter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Tabelle1!$B$7:$I$7</c:f>
              <c:numCache>
                <c:formatCode>General</c:formatCode>
                <c:ptCount val="8"/>
                <c:pt idx="1">
                  <c:v>0.1</c:v>
                </c:pt>
                <c:pt idx="6">
                  <c:v>1.5</c:v>
                </c:pt>
                <c:pt idx="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C0-490F-B421-877290987E6D}"/>
            </c:ext>
          </c:extLst>
        </c:ser>
        <c:ser>
          <c:idx val="5"/>
          <c:order val="5"/>
          <c:tx>
            <c:strRef>
              <c:f>Tabelle1!$A$8</c:f>
              <c:strCache>
                <c:ptCount val="1"/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multiLvlStrRef>
              <c:f>Tabelle1!$B$1:$I$2</c:f>
              <c:multiLvlStrCache>
                <c:ptCount val="8"/>
                <c:lvl>
                  <c:pt idx="0">
                    <c:v>TCP</c:v>
                  </c:pt>
                  <c:pt idx="1">
                    <c:v>UDP</c:v>
                  </c:pt>
                  <c:pt idx="2">
                    <c:v>Client &lt;--&gt; Server</c:v>
                  </c:pt>
                  <c:pt idx="3">
                    <c:v>Reversebetrieb</c:v>
                  </c:pt>
                  <c:pt idx="4">
                    <c:v>Client &lt;--&gt; Server</c:v>
                  </c:pt>
                  <c:pt idx="5">
                    <c:v>Reversebetrieb</c:v>
                  </c:pt>
                  <c:pt idx="6">
                    <c:v>verschlüsselt</c:v>
                  </c:pt>
                  <c:pt idx="7">
                    <c:v>unverschlüsselt</c:v>
                  </c:pt>
                </c:lvl>
                <c:lvl>
                  <c:pt idx="0">
                    <c:v>Referenz ohne Tunnel</c:v>
                  </c:pt>
                  <c:pt idx="2">
                    <c:v>TCP-Durchsatz unverschlüsselt</c:v>
                  </c:pt>
                  <c:pt idx="4">
                    <c:v>TCP-Durchsatz verschlüsselt</c:v>
                  </c:pt>
                  <c:pt idx="6">
                    <c:v>UDP-Durchsatz</c:v>
                  </c:pt>
                </c:lvl>
              </c:multiLvlStrCache>
            </c:multiLvlStrRef>
          </c:cat>
          <c:val>
            <c:numRef>
              <c:f>Tabelle1!$B$8:$I$8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5-C9C0-490F-B421-877290987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2463872"/>
        <c:axId val="1032463544"/>
      </c:barChart>
      <c:catAx>
        <c:axId val="1032463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32463544"/>
        <c:crosses val="autoZero"/>
        <c:auto val="1"/>
        <c:lblAlgn val="ctr"/>
        <c:lblOffset val="100"/>
        <c:noMultiLvlLbl val="0"/>
      </c:catAx>
      <c:valAx>
        <c:axId val="103246354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32463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5"/>
        <c:delete val="1"/>
      </c:legendEntry>
      <c:layout>
        <c:manualLayout>
          <c:xMode val="edge"/>
          <c:yMode val="edge"/>
          <c:x val="0.66042390501315462"/>
          <c:y val="8.9918982001335079E-2"/>
          <c:w val="0.26613963199169199"/>
          <c:h val="0.148577765397170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F66AD-5EDD-4A2D-B5B0-A56DD73A056F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360DB-0380-40E8-8BC8-C7182241C6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1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1520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125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0EA37-2719-496D-B066-D01E591F9586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171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4892-0E1C-4F9C-A731-EDC947A1751A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12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8217-FD1D-4B5F-BF67-2458880C2ED6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457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EA18-BC9B-4F4F-ADC6-F8B020DDC0B5}" type="datetime1">
              <a:rPr lang="de-DE" smtClean="0"/>
              <a:t>23.01.2026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75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1F446-0E77-48AF-A20C-66D054A9EFD2}" type="datetime1">
              <a:rPr lang="de-DE" smtClean="0"/>
              <a:t>23.01.2026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93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0B97-DD2F-4480-AD16-E44EB86EF84F}" type="datetime1">
              <a:rPr lang="de-DE" smtClean="0"/>
              <a:t>23.01.2026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31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2A2C-E376-49AB-894F-613627C71857}" type="datetime1">
              <a:rPr lang="de-DE" smtClean="0"/>
              <a:t>23.01.2026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216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6046-2FA4-41C2-80DD-B55B708ABAB3}" type="datetime1">
              <a:rPr lang="de-DE" smtClean="0"/>
              <a:t>23.01.2026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45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F25E-4DC8-42C8-968F-E97733ACA5FB}" type="datetime1">
              <a:rPr lang="de-DE" smtClean="0"/>
              <a:t>23.01.2026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36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D89E-76F7-4C2F-86CB-0BBBA728C555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34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DEC-8CD9-49E1-A161-F20005E662B9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91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241EE-90E2-43AD-A9EB-AFCAA3F3C311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7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fficeArt object">
            <a:extLst>
              <a:ext uri="{FF2B5EF4-FFF2-40B4-BE49-F238E27FC236}">
                <a16:creationId xmlns:a16="http://schemas.microsoft.com/office/drawing/2014/main" id="{07F91125-2D31-4ADA-A4D5-D76FEB06F72B}"/>
              </a:ext>
            </a:extLst>
          </p:cNvPr>
          <p:cNvPicPr/>
          <p:nvPr/>
        </p:nvPicPr>
        <p:blipFill>
          <a:blip r:embed="rId2">
            <a:alphaModFix amt="39640"/>
          </a:blip>
          <a:srcRect t="29424" r="7489"/>
          <a:stretch>
            <a:fillRect/>
          </a:stretch>
        </p:blipFill>
        <p:spPr>
          <a:xfrm>
            <a:off x="0" y="-1475300"/>
            <a:ext cx="13094017" cy="9989379"/>
          </a:xfrm>
          <a:prstGeom prst="rect">
            <a:avLst/>
          </a:prstGeom>
          <a:ln w="12700" cap="flat">
            <a:noFill/>
            <a:miter lim="400000"/>
          </a:ln>
          <a:effectLst>
            <a:reflection stA="77789" endPos="40000" dir="5400000" sy="-100000" algn="bl" rotWithShape="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EA0765-9E22-4220-A5B9-366F60EBF3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sz="6000" b="1" dirty="0"/>
              <a:t>Tunneln von Nachrichten innerhalb von Massagebroker basierten Protokollen</a:t>
            </a:r>
            <a:endParaRPr lang="de-DE" b="1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854AAF-0F3A-42F9-9FC0-2101F1DD0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255963"/>
          </a:xfrm>
        </p:spPr>
        <p:txBody>
          <a:bodyPr>
            <a:normAutofit lnSpcReduction="10000"/>
          </a:bodyPr>
          <a:lstStyle/>
          <a:p>
            <a:pPr algn="l"/>
            <a:r>
              <a:rPr lang="de-DE" sz="3100" dirty="0"/>
              <a:t>Fachpraktikum 63585 </a:t>
            </a:r>
          </a:p>
          <a:p>
            <a:pPr algn="l"/>
            <a:r>
              <a:rPr lang="de-DE" sz="3100" dirty="0"/>
              <a:t>IT-Sicherheit, IT-Forensik und Datenschutz</a:t>
            </a:r>
          </a:p>
          <a:p>
            <a:pPr algn="l"/>
            <a:endParaRPr lang="de-DE" sz="3100" dirty="0"/>
          </a:p>
          <a:p>
            <a:pPr algn="l"/>
            <a:r>
              <a:rPr lang="de-DE" sz="3100" dirty="0"/>
              <a:t>Gruppenarbeit</a:t>
            </a:r>
          </a:p>
          <a:p>
            <a:pPr algn="l"/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Per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Hüpenbecker</a:t>
            </a:r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pPr algn="l"/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Carsten Lenzen</a:t>
            </a:r>
          </a:p>
          <a:p>
            <a:pPr algn="l"/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Robin Wetzlar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41848A-C3D9-4ED8-B56E-225FBAB7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A9B0-A597-4E90-A111-B9AFECF4D010}" type="datetime1">
              <a:rPr lang="de-DE" smtClean="0"/>
              <a:t>23.01.2026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EEE061-4FFE-4179-90A9-98FBCAFA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127589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334B1A-8C99-4B48-AB66-4779CAC8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3FEFF3-DCC5-4977-8C6A-E9A087F73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Vorstellung Protokolle </a:t>
            </a:r>
            <a:r>
              <a:rPr lang="de-DE" dirty="0" err="1"/>
              <a:t>Corba</a:t>
            </a:r>
            <a:r>
              <a:rPr lang="de-DE" dirty="0"/>
              <a:t> / MQTT</a:t>
            </a:r>
          </a:p>
          <a:p>
            <a:r>
              <a:rPr lang="de-DE" dirty="0"/>
              <a:t>Systemdesign</a:t>
            </a:r>
          </a:p>
          <a:p>
            <a:r>
              <a:rPr lang="de-DE" dirty="0"/>
              <a:t>Softwareaufbau</a:t>
            </a:r>
          </a:p>
          <a:p>
            <a:r>
              <a:rPr lang="de-DE" dirty="0"/>
              <a:t>Softwareablauf</a:t>
            </a:r>
          </a:p>
          <a:p>
            <a:r>
              <a:rPr lang="de-DE" dirty="0"/>
              <a:t>Testszenarien inkl. Ergebnisse</a:t>
            </a:r>
          </a:p>
          <a:p>
            <a:r>
              <a:rPr lang="de-DE" dirty="0"/>
              <a:t>Fazit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2C48D4-3582-43E8-8601-B801BDAB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DCB0-4F99-4366-8E49-20275D5812C1}" type="datetime1">
              <a:rPr lang="de-DE" smtClean="0"/>
              <a:t>23.01.2026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C2B2E3-D1C4-4048-B373-4D508C35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D9BAA4-D7B9-4721-848F-8091FBDE3026}"/>
              </a:ext>
            </a:extLst>
          </p:cNvPr>
          <p:cNvSpPr/>
          <p:nvPr/>
        </p:nvSpPr>
        <p:spPr>
          <a:xfrm>
            <a:off x="0" y="6833182"/>
            <a:ext cx="67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044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DA537-4899-4A43-9613-5D91DF15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Vorstellung </a:t>
            </a:r>
            <a:r>
              <a:rPr lang="de-DE" dirty="0" err="1"/>
              <a:t>Corba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10E1B-AE34-4BB7-A59E-7D465E852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AAAAAB+HelveticaNeue"/>
              </a:rPr>
              <a:t>Common Object Request Broker Architecture</a:t>
            </a:r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kein Protokoll im herkömmlichen Sinne,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Standard für eine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B+HelveticaNeue"/>
              </a:rPr>
              <a:t>Middlewarearchitektur</a:t>
            </a:r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unabhängig von Programmiersprache, Betriebssystem oder Hardwareplattform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basiert dabei auf TCP/IP</a:t>
            </a: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438E38-33F0-46B2-997E-BCA696668FA3}"/>
              </a:ext>
            </a:extLst>
          </p:cNvPr>
          <p:cNvSpPr txBox="1"/>
          <p:nvPr/>
        </p:nvSpPr>
        <p:spPr>
          <a:xfrm>
            <a:off x="838200" y="4265747"/>
            <a:ext cx="6097554" cy="150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Einsatzgebiete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Altsysteme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Echtzeit- und </a:t>
            </a:r>
            <a:r>
              <a:rPr lang="de-DE" dirty="0" err="1">
                <a:solidFill>
                  <a:srgbClr val="000000"/>
                </a:solidFill>
                <a:latin typeface="AAAAAB+HelveticaNeue"/>
              </a:rPr>
              <a:t>embedded</a:t>
            </a:r>
            <a:r>
              <a:rPr lang="de-DE" dirty="0">
                <a:solidFill>
                  <a:srgbClr val="000000"/>
                </a:solidFill>
                <a:latin typeface="AAAAAB+HelveticaNeue"/>
              </a:rPr>
              <a:t> Systeme (z.B. Luft- und Raumfahrt)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Heterogene und komplexe IT-Landschaft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B51504-9F51-4087-8352-909AAD81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B7CB4-2942-42F9-964F-8FE4ED0557DE}" type="datetime1">
              <a:rPr lang="de-DE" smtClean="0"/>
              <a:t>23.01.2026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DCDFB47-3A32-4C37-BAD9-EE63C399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369E5B3-7DBB-4E16-9CD2-9DB8C60925D2}"/>
              </a:ext>
            </a:extLst>
          </p:cNvPr>
          <p:cNvSpPr/>
          <p:nvPr/>
        </p:nvSpPr>
        <p:spPr>
          <a:xfrm>
            <a:off x="0" y="6833182"/>
            <a:ext cx="1249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08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DA537-4899-4A43-9613-5D91DF15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Vorstellung MQTT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10E1B-AE34-4BB7-A59E-7D465E852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Message Queuing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Telemetry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Transport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schlankes, offenes Nachrichtenprotokoll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speziell für die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Machine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-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to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-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Machine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-Kommunikation im Internet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of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things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Ziel: effiziente Übertragung von Daten in Umgebungen mit begrenzter Bandbreite, hoher Latenz oder unzuverlässigen Netzwerkverbindungen</a:t>
            </a:r>
          </a:p>
          <a:p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8448F2-D820-4F07-9AE0-E46022583BF0}"/>
              </a:ext>
            </a:extLst>
          </p:cNvPr>
          <p:cNvSpPr txBox="1"/>
          <p:nvPr/>
        </p:nvSpPr>
        <p:spPr>
          <a:xfrm>
            <a:off x="838200" y="4265748"/>
            <a:ext cx="6097554" cy="150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Einsatzgebiete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SmartHome und Gebäudeautomatisierung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Telemetrie und Sensornetzwerke (z.B. Öl- und Gasindustrie)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Gesundheitswesen (Wearables)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9E2EEDA-8A5A-44BA-AE79-1E8488EAC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CD03-D624-41C8-84F5-3E28460DF4FC}" type="datetime1">
              <a:rPr lang="de-DE" smtClean="0"/>
              <a:t>23.01.2026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76567DE-7E29-4BC8-B44E-584F01CE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6A8F135-A0EF-4DB8-ABE2-6193812D56DC}"/>
              </a:ext>
            </a:extLst>
          </p:cNvPr>
          <p:cNvSpPr/>
          <p:nvPr/>
        </p:nvSpPr>
        <p:spPr>
          <a:xfrm>
            <a:off x="0" y="6833182"/>
            <a:ext cx="1825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15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2C0B4-0F29-4992-B72E-09275BEC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Entscheidung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88FD2F-9D06-4A7F-9D84-D9573E630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Auswahl</a:t>
            </a:r>
          </a:p>
          <a:p>
            <a:r>
              <a:rPr lang="de-DE" dirty="0"/>
              <a:t>MQTT als Trägerprotokoll 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Begründung</a:t>
            </a:r>
          </a:p>
          <a:p>
            <a:r>
              <a:rPr lang="de-DE" dirty="0"/>
              <a:t>Hauptaugenmerk auf effiziente Nachrichtenübertragung</a:t>
            </a:r>
          </a:p>
          <a:p>
            <a:r>
              <a:rPr lang="de-DE" dirty="0"/>
              <a:t>mehr Berührungspunkte mit dem alltäglichen Leben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0418CD-8DB1-4620-9E6E-65D41830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245-EA88-41A7-8B39-A58C02FA4271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E830E1-A787-4F65-A6C3-DA3A813F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C26B8B1-EEAB-4C74-AC5C-26EDBE456BF5}"/>
              </a:ext>
            </a:extLst>
          </p:cNvPr>
          <p:cNvSpPr/>
          <p:nvPr/>
        </p:nvSpPr>
        <p:spPr>
          <a:xfrm>
            <a:off x="0" y="6833182"/>
            <a:ext cx="2401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293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69807-0EBA-497A-A336-F748325D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0070FE-ABC9-425F-B8B9-6CCF262FF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0C70C22-989F-4A54-9E58-4337A384511A}"/>
              </a:ext>
            </a:extLst>
          </p:cNvPr>
          <p:cNvGrpSpPr/>
          <p:nvPr/>
        </p:nvGrpSpPr>
        <p:grpSpPr>
          <a:xfrm>
            <a:off x="0" y="1427854"/>
            <a:ext cx="12192000" cy="4916689"/>
            <a:chOff x="0" y="970655"/>
            <a:chExt cx="12192000" cy="4916689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64F7BFCC-5366-40AF-B1C6-7871F37408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0811"/>
            <a:stretch/>
          </p:blipFill>
          <p:spPr>
            <a:xfrm>
              <a:off x="0" y="970655"/>
              <a:ext cx="12192000" cy="4385117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64FE0129-0432-45CF-BA21-9C2C24B6F0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321" t="89188"/>
            <a:stretch/>
          </p:blipFill>
          <p:spPr>
            <a:xfrm>
              <a:off x="2248677" y="5355772"/>
              <a:ext cx="8860972" cy="531572"/>
            </a:xfrm>
            <a:prstGeom prst="rect">
              <a:avLst/>
            </a:prstGeom>
          </p:spPr>
        </p:pic>
      </p:grp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3DF9BB4-29C0-4E43-B838-4CC117C1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8344-1871-4949-864A-AAC5D3FBBF8A}" type="datetime1">
              <a:rPr lang="de-DE" smtClean="0"/>
              <a:t>23.01.2026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D1B41125-AEED-4861-8AB6-F8C6E2A0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644FDEC-D570-4BA9-83BF-B9932860EDB3}"/>
              </a:ext>
            </a:extLst>
          </p:cNvPr>
          <p:cNvSpPr/>
          <p:nvPr/>
        </p:nvSpPr>
        <p:spPr>
          <a:xfrm>
            <a:off x="0" y="6833182"/>
            <a:ext cx="2977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253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Softwareaufbau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FAF3841-7670-42AF-9DF4-B04D4FCDCE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10" b="8299"/>
          <a:stretch/>
        </p:blipFill>
        <p:spPr>
          <a:xfrm>
            <a:off x="6699380" y="0"/>
            <a:ext cx="5492620" cy="6288833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7082" cy="4351338"/>
          </a:xfrm>
        </p:spPr>
        <p:txBody>
          <a:bodyPr>
            <a:normAutofit/>
          </a:bodyPr>
          <a:lstStyle/>
          <a:p>
            <a:r>
              <a:rPr lang="de-DE" dirty="0"/>
              <a:t>Modularer Aufbau</a:t>
            </a:r>
          </a:p>
          <a:p>
            <a:r>
              <a:rPr lang="de-DE" dirty="0" err="1"/>
              <a:t>helpers.h</a:t>
            </a:r>
            <a:r>
              <a:rPr lang="de-DE" dirty="0"/>
              <a:t> </a:t>
            </a:r>
          </a:p>
          <a:p>
            <a:pPr marL="457200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Hashfunktion (SHA256)</a:t>
            </a:r>
          </a:p>
          <a:p>
            <a:r>
              <a:rPr lang="de-DE" dirty="0" err="1"/>
              <a:t>ip_pool.h</a:t>
            </a:r>
            <a:r>
              <a:rPr lang="de-DE" dirty="0"/>
              <a:t> / ip_pool.cpp </a:t>
            </a:r>
          </a:p>
          <a:p>
            <a:pPr marL="457200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Management potentiellen IP-Pools</a:t>
            </a:r>
          </a:p>
          <a:p>
            <a:r>
              <a:rPr lang="de-DE" dirty="0" err="1">
                <a:sym typeface="Wingdings" panose="05000000000000000000" pitchFamily="2" charset="2"/>
              </a:rPr>
              <a:t>TunClient</a:t>
            </a:r>
            <a:endParaRPr lang="de-DE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Richtet Tun-Device als Client ein</a:t>
            </a:r>
          </a:p>
          <a:p>
            <a:r>
              <a:rPr lang="de-DE" dirty="0" err="1">
                <a:sym typeface="Wingdings" panose="05000000000000000000" pitchFamily="2" charset="2"/>
              </a:rPr>
              <a:t>TunServer</a:t>
            </a:r>
            <a:endParaRPr lang="de-DE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Richtet Tun-Device als Server ein</a:t>
            </a:r>
            <a:endParaRPr lang="de-DE" dirty="0"/>
          </a:p>
          <a:p>
            <a:endParaRPr lang="de-DE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48BDBA-5EAB-4177-B514-6DE426A6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327F-0539-4DEF-98DC-E81AC4925CC7}" type="datetime1">
              <a:rPr lang="de-DE" smtClean="0"/>
              <a:t>23.01.2026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C9075A2-E371-44B6-8D69-44BBC2D1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FED254B-16BB-4E27-A869-D4E95857374C}"/>
              </a:ext>
            </a:extLst>
          </p:cNvPr>
          <p:cNvSpPr/>
          <p:nvPr/>
        </p:nvSpPr>
        <p:spPr>
          <a:xfrm>
            <a:off x="0" y="6833182"/>
            <a:ext cx="35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719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Softwareablauf (Start)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2486" cy="4351338"/>
          </a:xfrm>
        </p:spPr>
        <p:txBody>
          <a:bodyPr>
            <a:normAutofit/>
          </a:bodyPr>
          <a:lstStyle/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Server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konfiguriert TUN-Interface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aktiviert IP-</a:t>
            </a:r>
            <a:r>
              <a:rPr lang="de-DE" sz="1600" b="0" i="0" u="none" strike="noStrike" baseline="0" dirty="0" err="1">
                <a:solidFill>
                  <a:srgbClr val="000000"/>
                </a:solidFill>
                <a:latin typeface="AAAAAJ+Helvetica"/>
              </a:rPr>
              <a:t>Forwarding</a:t>
            </a:r>
            <a:endParaRPr lang="de-DE" sz="1600" b="0" i="0" u="none" strike="noStrike" baseline="0" dirty="0">
              <a:solidFill>
                <a:srgbClr val="000000"/>
              </a:solidFill>
              <a:latin typeface="AAAAAJ+Helvetica"/>
            </a:endParaRP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Verbindung MQTT Command- und Data-Channel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startet einen separaten Thread</a:t>
            </a:r>
          </a:p>
          <a:p>
            <a:pPr lvl="1"/>
            <a:endParaRPr lang="de-DE" sz="1400" b="0" i="0" u="none" strike="noStrike" baseline="0" dirty="0">
              <a:solidFill>
                <a:srgbClr val="000000"/>
              </a:solidFill>
              <a:latin typeface="AAAAAJ+Helvetica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Neue Clients 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Aufnahme via </a:t>
            </a:r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Command-Channel per eigenem Handshake-Protokoll 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Dynamische IP-Vergabe aus </a:t>
            </a:r>
            <a:r>
              <a:rPr lang="de-DE" sz="1600" dirty="0" err="1">
                <a:solidFill>
                  <a:srgbClr val="000000"/>
                </a:solidFill>
                <a:latin typeface="AAAAAJ+Helvetica"/>
              </a:rPr>
              <a:t>IPPool</a:t>
            </a:r>
            <a:endParaRPr lang="de-DE" sz="1600" dirty="0">
              <a:solidFill>
                <a:srgbClr val="000000"/>
              </a:solidFill>
              <a:latin typeface="AAAAAJ+Helvetica"/>
            </a:endParaRP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Erzeugen individueller MQTT-Topics 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Sicherung Session Daten </a:t>
            </a:r>
            <a:r>
              <a:rPr lang="de-DE" sz="1600" dirty="0" err="1">
                <a:solidFill>
                  <a:srgbClr val="000000"/>
                </a:solidFill>
                <a:latin typeface="AAAAAJ+Helvetica"/>
              </a:rPr>
              <a:t>threadsafe</a:t>
            </a:r>
            <a:r>
              <a:rPr lang="de-DE" sz="1600" dirty="0">
                <a:solidFill>
                  <a:srgbClr val="000000"/>
                </a:solidFill>
                <a:latin typeface="AAAAAJ+Helvetica"/>
              </a:rPr>
              <a:t> in der </a:t>
            </a:r>
            <a:r>
              <a:rPr lang="de-DE" sz="1600" dirty="0" err="1">
                <a:solidFill>
                  <a:srgbClr val="000000"/>
                </a:solidFill>
                <a:latin typeface="AAAAAJ+Helvetica"/>
              </a:rPr>
              <a:t>SessionMap</a:t>
            </a:r>
            <a:endParaRPr lang="de-DE" sz="1600" dirty="0">
              <a:solidFill>
                <a:srgbClr val="000000"/>
              </a:solidFill>
              <a:latin typeface="AAAAAJ+Helvetica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81CBAD3-2EDC-4B7C-ACBA-732C995149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09"/>
          <a:stretch/>
        </p:blipFill>
        <p:spPr>
          <a:xfrm>
            <a:off x="4980686" y="1825625"/>
            <a:ext cx="6373114" cy="4351338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2BAC4CF-11E3-4AF6-A930-E905402F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88FDA-B727-4F12-B85E-168EB59E4813}" type="datetime1">
              <a:rPr lang="de-DE" smtClean="0"/>
              <a:t>23.01.2026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C021D9C-4CEB-4B8C-9F37-9236E954D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CFB116F-65BF-488C-942C-4E0AD435F54E}"/>
              </a:ext>
            </a:extLst>
          </p:cNvPr>
          <p:cNvSpPr/>
          <p:nvPr/>
        </p:nvSpPr>
        <p:spPr>
          <a:xfrm>
            <a:off x="0" y="6833182"/>
            <a:ext cx="4129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74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Softwareablauf (Betrieb)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2486" cy="4351338"/>
          </a:xfrm>
        </p:spPr>
        <p:txBody>
          <a:bodyPr>
            <a:normAutofit/>
          </a:bodyPr>
          <a:lstStyle/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Server liest IP-Pakete aus TUN-Interface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ermittelt Client-Session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veröffentlicht Daten auf MQTT-Topic </a:t>
            </a:r>
          </a:p>
          <a:p>
            <a:pPr marL="0" indent="0">
              <a:buNone/>
            </a:pPr>
            <a:endParaRPr lang="de-DE" sz="1800" b="0" i="0" u="none" strike="noStrike" baseline="0" dirty="0">
              <a:solidFill>
                <a:srgbClr val="000000"/>
              </a:solidFill>
              <a:latin typeface="AAAAAJ+Helvetica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Optional: Verschlüsselung per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J+Helvetica"/>
              </a:rPr>
              <a:t>CryptoManager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81CBAD3-2EDC-4B7C-ACBA-732C995149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09"/>
          <a:stretch/>
        </p:blipFill>
        <p:spPr>
          <a:xfrm>
            <a:off x="4980686" y="1825625"/>
            <a:ext cx="6373114" cy="435133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6067C3-EB9F-413B-A335-57A93D0B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C8AF1-EC83-4507-A92F-5034AEE8069A}" type="datetime1">
              <a:rPr lang="de-DE" smtClean="0"/>
              <a:t>23.01.2026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1F6216-3798-491A-A2A7-F31CC497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32A7C16-C25F-437D-9C05-D719C5BDB914}"/>
              </a:ext>
            </a:extLst>
          </p:cNvPr>
          <p:cNvSpPr/>
          <p:nvPr/>
        </p:nvSpPr>
        <p:spPr>
          <a:xfrm>
            <a:off x="0" y="6833182"/>
            <a:ext cx="4705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5144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2486" cy="4351338"/>
          </a:xfrm>
        </p:spPr>
        <p:txBody>
          <a:bodyPr>
            <a:normAutofit/>
          </a:bodyPr>
          <a:lstStyle/>
          <a:p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J+Helvetica"/>
              </a:rPr>
              <a:t>TunnelClient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  <a:sym typeface="Wingdings" panose="05000000000000000000" pitchFamily="2" charset="2"/>
              </a:rPr>
              <a:t>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MQTT-basierten Tunnel-Client,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der Netzwerkpakete über lokales TUN-Interface liest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und über MQTT an einen Tunnel-Server überträgt.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Auf Clientseite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Einrichtung 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Betrieb</a:t>
            </a:r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Auf- u. Abbau einer Tunnelsitzung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C8EB161-C431-4D2E-B070-0C9A58CE0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133" y="1825625"/>
            <a:ext cx="5433165" cy="427589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E6AD0F-B303-4C7D-850A-50C24911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FDFA-7F65-439D-B89A-557212752120}" type="datetime1">
              <a:rPr lang="de-DE" smtClean="0"/>
              <a:t>23.01.2026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9475D3F-A069-4CEB-876F-C2D1B519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0F17564-8466-4C98-930E-D4398E00FDB2}"/>
              </a:ext>
            </a:extLst>
          </p:cNvPr>
          <p:cNvSpPr/>
          <p:nvPr/>
        </p:nvSpPr>
        <p:spPr>
          <a:xfrm>
            <a:off x="0" y="6833182"/>
            <a:ext cx="5281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601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2486" cy="4351338"/>
          </a:xfrm>
        </p:spPr>
        <p:txBody>
          <a:bodyPr>
            <a:normAutofit/>
          </a:bodyPr>
          <a:lstStyle/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Client verbindet sich mit Command-Channel eines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J+Helvetica"/>
              </a:rPr>
              <a:t>TunnelServers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,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Session-Aushandlung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Verbinden mit Data Channel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starten separater Thread, </a:t>
            </a:r>
          </a:p>
          <a:p>
            <a:endParaRPr lang="de-DE" sz="1800" dirty="0">
              <a:solidFill>
                <a:srgbClr val="000000"/>
              </a:solidFill>
              <a:latin typeface="AAAAAJ+Helvetica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Optional: Verschlüsselung per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J+Helvetica"/>
              </a:rPr>
              <a:t>CryptoManager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 </a:t>
            </a:r>
            <a:endParaRPr lang="de-DE" sz="1800" dirty="0">
              <a:solidFill>
                <a:srgbClr val="000000"/>
              </a:solidFill>
              <a:latin typeface="AAAAAJ+Helvetica"/>
            </a:endParaRP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J+Helvetica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Beim Stoppen wird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Senden Termination-Message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Schließen MQTT-Verbindungen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C8EB161-C431-4D2E-B070-0C9A58CE0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132" y="1825625"/>
            <a:ext cx="5433165" cy="427589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96501-87D1-4356-848E-3C181E30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8F276-9989-433B-A7D5-59253830AE9C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8E8BF5-96F8-4BB8-B5BC-0F25658E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4235ED4-0702-44F2-A356-1CD33541EE2F}"/>
              </a:ext>
            </a:extLst>
          </p:cNvPr>
          <p:cNvSpPr/>
          <p:nvPr/>
        </p:nvSpPr>
        <p:spPr>
          <a:xfrm>
            <a:off x="0" y="6833182"/>
            <a:ext cx="5497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23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Softwareaufruf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96501-87D1-4356-848E-3C181E30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B71F-3F7C-4162-929C-C22603ED74BB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8E8BF5-96F8-4BB8-B5BC-0F25658E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944D3EE-4E10-460F-9A64-70D166CDE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4144"/>
            <a:ext cx="3479541" cy="36512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de-DE" sz="1800" b="0" i="1" u="none" strike="noStrike" baseline="0" dirty="0" err="1">
                <a:solidFill>
                  <a:srgbClr val="4270C4"/>
                </a:solidFill>
                <a:latin typeface="AAAAAI+HelveticaNeue-Italic"/>
              </a:rPr>
              <a:t>sudo</a:t>
            </a:r>
            <a:r>
              <a:rPr lang="de-DE" sz="1800" b="0" i="1" u="none" strike="noStrike" baseline="0" dirty="0">
                <a:solidFill>
                  <a:srgbClr val="4270C4"/>
                </a:solidFill>
                <a:latin typeface="AAAAAI+HelveticaNeue-Italic"/>
              </a:rPr>
              <a:t> ./</a:t>
            </a:r>
            <a:r>
              <a:rPr lang="de-DE" sz="1800" b="0" i="1" u="none" strike="noStrike" baseline="0" dirty="0" err="1">
                <a:solidFill>
                  <a:srgbClr val="4270C4"/>
                </a:solidFill>
                <a:latin typeface="AAAAAI+HelveticaNeue-Italic"/>
              </a:rPr>
              <a:t>mqtt_tunnel</a:t>
            </a:r>
            <a:r>
              <a:rPr lang="de-DE" sz="1800" b="0" i="1" u="none" strike="noStrike" baseline="0" dirty="0">
                <a:solidFill>
                  <a:srgbClr val="4270C4"/>
                </a:solidFill>
                <a:latin typeface="AAAAAI+HelveticaNeue-Italic"/>
              </a:rPr>
              <a:t> [ARGUMENTS] 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86152E3-77D2-4B1F-8E51-42AFACD94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631" y="718457"/>
            <a:ext cx="7413230" cy="5637893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434444B9-8AD8-4ED7-925A-0135C0CA7330}"/>
              </a:ext>
            </a:extLst>
          </p:cNvPr>
          <p:cNvSpPr/>
          <p:nvPr/>
        </p:nvSpPr>
        <p:spPr>
          <a:xfrm>
            <a:off x="0" y="6833182"/>
            <a:ext cx="607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9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96501-87D1-4356-848E-3C181E30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18E4-A42B-423D-8800-05B9E5CB6930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8E8BF5-96F8-4BB8-B5BC-0F25658E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25CD5E5-2556-42BC-9E09-3765C5091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390" y="81732"/>
            <a:ext cx="7954485" cy="566816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Verbindungsaufbau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72DA361-6837-4F71-83E0-DA6AE53F9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9963" cy="4351338"/>
          </a:xfrm>
        </p:spPr>
        <p:txBody>
          <a:bodyPr/>
          <a:lstStyle/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Client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  <a:sym typeface="Wingdings" panose="05000000000000000000" pitchFamily="2" charset="2"/>
              </a:rPr>
              <a:t></a:t>
            </a:r>
            <a:r>
              <a:rPr lang="de-DE" sz="1800" dirty="0">
                <a:solidFill>
                  <a:srgbClr val="000000"/>
                </a:solidFill>
                <a:latin typeface="AAAAAB+HelveticaNeue"/>
                <a:sym typeface="Wingdings" panose="05000000000000000000" pitchFamily="2" charset="2"/>
              </a:rPr>
              <a:t> Server</a:t>
            </a:r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Identifikation des Clients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Aushandlung einer Session-ID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Zuweisung einer Client-IP-Adresse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Festlegung der MQTT Topics für Datentransfer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(Optional) Aufbau kryptographischer Session Keys für Verschlüsselung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Bestätigung der Session durch ACK-Nachrichten 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FFA600C-B26D-446B-B241-BB51F0F951D8}"/>
              </a:ext>
            </a:extLst>
          </p:cNvPr>
          <p:cNvSpPr/>
          <p:nvPr/>
        </p:nvSpPr>
        <p:spPr>
          <a:xfrm>
            <a:off x="0" y="6831040"/>
            <a:ext cx="6577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003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5E411-E1CE-49D1-9EB9-B7EFFE1A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Testszenarien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3600FA-3D6B-49F8-B5A5-8B73EA18E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z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weiteilige Gliederung Gesamttest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B+HelveticaNeue"/>
              </a:rPr>
              <a:t>Test 1: Erreichbarkeit über den Tunnel 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B+HelveticaNeue"/>
              </a:rPr>
              <a:t>Test 2: TCP-Kommunikation über den Tunnel </a:t>
            </a:r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Testkriterien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Perfomance &amp; Latenz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TCP-Durchsatz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UDP-Durchsatz, </a:t>
            </a:r>
            <a:r>
              <a:rPr lang="de-DE" sz="1600" dirty="0" err="1">
                <a:solidFill>
                  <a:srgbClr val="000000"/>
                </a:solidFill>
                <a:latin typeface="AAAAAB+HelveticaNeue"/>
              </a:rPr>
              <a:t>Jitter</a:t>
            </a:r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 &amp; Paketverlust</a:t>
            </a:r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Testbedingungen / -Umgebung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B+HelveticaNeue"/>
              </a:rPr>
              <a:t>Tunnel-Server und Tunnel-Client auf verschiedenen virtuellen Maschinen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B+HelveticaNeue"/>
              </a:rPr>
              <a:t>Die Verbindung zuvor via MQTT-Broker erfolgreich etabliert </a:t>
            </a:r>
            <a:endParaRPr lang="de-DE" sz="160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Analyse mittels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tcpdump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auf TUN-Schnittstelle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37DC6F-2654-4C98-9EAC-D8183881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EC21FF-0FE5-472D-810E-575D5D15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FB96ECB-5C3E-4F95-A9B5-6F1DED55F244}"/>
              </a:ext>
            </a:extLst>
          </p:cNvPr>
          <p:cNvSpPr/>
          <p:nvPr/>
        </p:nvSpPr>
        <p:spPr>
          <a:xfrm>
            <a:off x="0" y="6833182"/>
            <a:ext cx="71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364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3600FA-3D6B-49F8-B5A5-8B73EA18E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Prüfung grundlegende Erreichbarkeit über Tunnel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ICMP-Ping von Tunnel-Client an Tunnel-IP des Servers </a:t>
            </a: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</p:txBody>
      </p:sp>
      <p:sp>
        <p:nvSpPr>
          <p:cNvPr id="6" name="Inhaltsplatzhalter 7">
            <a:extLst>
              <a:ext uri="{FF2B5EF4-FFF2-40B4-BE49-F238E27FC236}">
                <a16:creationId xmlns:a16="http://schemas.microsoft.com/office/drawing/2014/main" id="{DE919481-B899-4A79-8396-CB555D8180CA}"/>
              </a:ext>
            </a:extLst>
          </p:cNvPr>
          <p:cNvSpPr txBox="1">
            <a:spLocks/>
          </p:cNvSpPr>
          <p:nvPr/>
        </p:nvSpPr>
        <p:spPr>
          <a:xfrm>
            <a:off x="4356000" y="2627782"/>
            <a:ext cx="5002375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800" b="0" i="0" u="none" strike="noStrike" baseline="0" dirty="0">
                <a:solidFill>
                  <a:srgbClr val="4270C4"/>
                </a:solidFill>
                <a:latin typeface="AAAAAB+HelveticaNeue"/>
              </a:rPr>
              <a:t>Ping 10.0.0.1 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B5E411-E1CE-49D1-9EB9-B7EFFE1A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 1: Erreichbarkeit über den Tunnel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38F074-7705-4A8C-90F4-19A3465E6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AE35-8AB1-451D-B4C0-AD11080D74C0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DCED0A-6E89-4E8A-A185-3E6E80C4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034E71E-2DCC-4F89-A6CD-FA0274BB923A}"/>
              </a:ext>
            </a:extLst>
          </p:cNvPr>
          <p:cNvSpPr/>
          <p:nvPr/>
        </p:nvSpPr>
        <p:spPr>
          <a:xfrm>
            <a:off x="0" y="6833182"/>
            <a:ext cx="7729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8452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5E411-E1CE-49D1-9EB9-B7EFFE1A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 2: TCP-Kommunikation über den Tunnel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3600FA-3D6B-49F8-B5A5-8B73EA18E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Start TCP-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B+HelveticaNeue"/>
              </a:rPr>
              <a:t>Listener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 mit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B+HelveticaNeue"/>
              </a:rPr>
              <a:t>netcat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 </a:t>
            </a:r>
          </a:p>
          <a:p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Aufbau TCP-Verbindung via Tunnel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Absetzen einer Testnachricht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6CFFA9-564F-48C8-9262-971A788E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4D3B-FA49-4E45-960C-986CC24B2A49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690752-F1F9-4595-AD95-768CE581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Inhaltsplatzhalter 7">
            <a:extLst>
              <a:ext uri="{FF2B5EF4-FFF2-40B4-BE49-F238E27FC236}">
                <a16:creationId xmlns:a16="http://schemas.microsoft.com/office/drawing/2014/main" id="{94AEE640-BEEC-4228-B10E-E32D6077BDE8}"/>
              </a:ext>
            </a:extLst>
          </p:cNvPr>
          <p:cNvSpPr txBox="1">
            <a:spLocks/>
          </p:cNvSpPr>
          <p:nvPr/>
        </p:nvSpPr>
        <p:spPr>
          <a:xfrm>
            <a:off x="4356229" y="2354959"/>
            <a:ext cx="5002375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800" b="0" i="0" u="none" strike="noStrike" baseline="0" dirty="0" err="1">
                <a:solidFill>
                  <a:srgbClr val="4270C4"/>
                </a:solidFill>
                <a:latin typeface="AAAAAB+HelveticaNeue"/>
              </a:rPr>
              <a:t>nc</a:t>
            </a:r>
            <a:r>
              <a:rPr lang="de-DE" sz="1800" b="0" i="0" u="none" strike="noStrike" baseline="0" dirty="0">
                <a:solidFill>
                  <a:srgbClr val="4270C4"/>
                </a:solidFill>
                <a:latin typeface="AAAAAB+HelveticaNeue"/>
              </a:rPr>
              <a:t> -I -p 12345</a:t>
            </a:r>
            <a:endParaRPr lang="de-DE" sz="1200" dirty="0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8370838C-2FC9-4870-A053-8FD4647581CB}"/>
              </a:ext>
            </a:extLst>
          </p:cNvPr>
          <p:cNvSpPr txBox="1">
            <a:spLocks/>
          </p:cNvSpPr>
          <p:nvPr/>
        </p:nvSpPr>
        <p:spPr>
          <a:xfrm>
            <a:off x="4356228" y="3803974"/>
            <a:ext cx="5002376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800" b="0" i="0" u="none" strike="noStrike" baseline="0" dirty="0" err="1">
                <a:solidFill>
                  <a:srgbClr val="034FAD"/>
                </a:solidFill>
                <a:latin typeface="AAAAAB+HelveticaNeue"/>
              </a:rPr>
              <a:t>printf</a:t>
            </a:r>
            <a:r>
              <a:rPr lang="de-DE" sz="1800" b="0" i="0" u="none" strike="noStrike" baseline="0" dirty="0">
                <a:solidFill>
                  <a:srgbClr val="034FAD"/>
                </a:solidFill>
                <a:latin typeface="AAAAAB+HelveticaNeue"/>
              </a:rPr>
              <a:t> </a:t>
            </a:r>
            <a:r>
              <a:rPr lang="de-DE" sz="1800" b="0" i="0" u="none" strike="noStrike" baseline="0" dirty="0">
                <a:solidFill>
                  <a:srgbClr val="082E67"/>
                </a:solidFill>
                <a:latin typeface="AAAAAB+HelveticaNeue"/>
              </a:rPr>
              <a:t>'%s\n' 'TESTNACHRICHT' </a:t>
            </a:r>
            <a:r>
              <a:rPr lang="de-DE" sz="1800" b="0" i="0" u="none" strike="noStrike" baseline="0" dirty="0">
                <a:solidFill>
                  <a:srgbClr val="CF202C"/>
                </a:solidFill>
                <a:latin typeface="AAAAAB+HelveticaNeue"/>
              </a:rPr>
              <a:t>| </a:t>
            </a:r>
            <a:r>
              <a:rPr lang="de-DE" sz="1800" b="0" i="0" u="none" strike="noStrike" baseline="0" dirty="0" err="1">
                <a:solidFill>
                  <a:srgbClr val="4270C4"/>
                </a:solidFill>
                <a:latin typeface="AAAAAB+HelveticaNeue"/>
              </a:rPr>
              <a:t>nc</a:t>
            </a:r>
            <a:r>
              <a:rPr lang="de-DE" sz="1800" b="0" i="0" u="none" strike="noStrike" baseline="0" dirty="0">
                <a:solidFill>
                  <a:srgbClr val="4270C4"/>
                </a:solidFill>
                <a:latin typeface="AAAAAB+HelveticaNeue"/>
              </a:rPr>
              <a:t> 10.0.0.1 12345</a:t>
            </a:r>
            <a:endParaRPr lang="de-DE" sz="320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B104B48-B96E-41E4-B576-539C99B92AA5}"/>
              </a:ext>
            </a:extLst>
          </p:cNvPr>
          <p:cNvSpPr/>
          <p:nvPr/>
        </p:nvSpPr>
        <p:spPr>
          <a:xfrm>
            <a:off x="0" y="6833182"/>
            <a:ext cx="8305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584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9D7369-859F-4E66-86F6-4415EC63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Perfomance und Latenz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2C8AF6-51DD-4F67-919B-6B5460A8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61CBC0-FA76-4A15-9D3A-0C3F4854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3785-DED6-4DAF-98D3-9FC190FA99DB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3C4732-A50D-4B3A-8048-E952566D6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2EDF598-2857-493C-9AB9-95503DE034B2}"/>
              </a:ext>
            </a:extLst>
          </p:cNvPr>
          <p:cNvSpPr/>
          <p:nvPr/>
        </p:nvSpPr>
        <p:spPr>
          <a:xfrm>
            <a:off x="0" y="6833182"/>
            <a:ext cx="8881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834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16075-21DC-4E4C-8224-A129EB45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Perfomance und Latenz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A0C0EEC0-1A74-4D2E-81DA-65F78C3FE3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390871"/>
              </p:ext>
            </p:extLst>
          </p:nvPr>
        </p:nvGraphicFramePr>
        <p:xfrm>
          <a:off x="5364956" y="1690688"/>
          <a:ext cx="5538788" cy="4519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EF4036-5ABB-4948-967B-E6BA372A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18AC-F8D6-4C24-8FC9-6FD2DB70DEF7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30841F-F72D-4A34-88D6-A2586763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E6133DF-6764-47E5-A1E3-2807FE8F3BE3}"/>
              </a:ext>
            </a:extLst>
          </p:cNvPr>
          <p:cNvSpPr/>
          <p:nvPr/>
        </p:nvSpPr>
        <p:spPr>
          <a:xfrm>
            <a:off x="0" y="6833182"/>
            <a:ext cx="9457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79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9D7369-859F-4E66-86F6-4415EC63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Perfomance und Latenz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14ED7B3-0A5C-4F84-8123-8BB4DA14B228}"/>
              </a:ext>
            </a:extLst>
          </p:cNvPr>
          <p:cNvGrpSpPr/>
          <p:nvPr/>
        </p:nvGrpSpPr>
        <p:grpSpPr>
          <a:xfrm>
            <a:off x="4190448" y="1421939"/>
            <a:ext cx="7163352" cy="5268788"/>
            <a:chOff x="966293" y="1393364"/>
            <a:chExt cx="7163352" cy="5268788"/>
          </a:xfrm>
        </p:grpSpPr>
        <p:graphicFrame>
          <p:nvGraphicFramePr>
            <p:cNvPr id="11" name="Diagramm 10">
              <a:extLst>
                <a:ext uri="{FF2B5EF4-FFF2-40B4-BE49-F238E27FC236}">
                  <a16:creationId xmlns:a16="http://schemas.microsoft.com/office/drawing/2014/main" id="{6F26E305-7CFF-49EB-8184-13686137139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75937822"/>
                </p:ext>
              </p:extLst>
            </p:nvPr>
          </p:nvGraphicFramePr>
          <p:xfrm>
            <a:off x="966293" y="1393364"/>
            <a:ext cx="7163352" cy="42980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2" name="Textfeld 3">
              <a:extLst>
                <a:ext uri="{FF2B5EF4-FFF2-40B4-BE49-F238E27FC236}">
                  <a16:creationId xmlns:a16="http://schemas.microsoft.com/office/drawing/2014/main" id="{BB6E03FB-EEFA-426C-B4FC-4484920DAF91}"/>
                </a:ext>
              </a:extLst>
            </p:cNvPr>
            <p:cNvSpPr txBox="1"/>
            <p:nvPr/>
          </p:nvSpPr>
          <p:spPr>
            <a:xfrm>
              <a:off x="3083401" y="6323598"/>
              <a:ext cx="1464568" cy="33855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600" dirty="0"/>
                <a:t>unverschlüsselt</a:t>
              </a:r>
            </a:p>
          </p:txBody>
        </p:sp>
        <p:sp>
          <p:nvSpPr>
            <p:cNvPr id="16" name="Geschweifte Klammer links 15">
              <a:extLst>
                <a:ext uri="{FF2B5EF4-FFF2-40B4-BE49-F238E27FC236}">
                  <a16:creationId xmlns:a16="http://schemas.microsoft.com/office/drawing/2014/main" id="{5E132888-EDB1-4C07-A76D-AC79A6D53417}"/>
                </a:ext>
              </a:extLst>
            </p:cNvPr>
            <p:cNvSpPr/>
            <p:nvPr/>
          </p:nvSpPr>
          <p:spPr>
            <a:xfrm rot="16200000">
              <a:off x="3678917" y="4733132"/>
              <a:ext cx="342762" cy="2259248"/>
            </a:xfrm>
            <a:prstGeom prst="leftBrace">
              <a:avLst>
                <a:gd name="adj1" fmla="val 8333"/>
                <a:gd name="adj2" fmla="val 48748"/>
              </a:avLst>
            </a:prstGeom>
            <a:ln w="666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Textfeld 3">
              <a:extLst>
                <a:ext uri="{FF2B5EF4-FFF2-40B4-BE49-F238E27FC236}">
                  <a16:creationId xmlns:a16="http://schemas.microsoft.com/office/drawing/2014/main" id="{5451DF87-DCCD-4B48-A651-94F6A9C121C7}"/>
                </a:ext>
              </a:extLst>
            </p:cNvPr>
            <p:cNvSpPr txBox="1"/>
            <p:nvPr/>
          </p:nvSpPr>
          <p:spPr>
            <a:xfrm>
              <a:off x="6017101" y="6323598"/>
              <a:ext cx="1253164" cy="33855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600" dirty="0"/>
                <a:t>verschlüsselt</a:t>
              </a:r>
            </a:p>
          </p:txBody>
        </p:sp>
        <p:sp>
          <p:nvSpPr>
            <p:cNvPr id="18" name="Geschweifte Klammer links 17">
              <a:extLst>
                <a:ext uri="{FF2B5EF4-FFF2-40B4-BE49-F238E27FC236}">
                  <a16:creationId xmlns:a16="http://schemas.microsoft.com/office/drawing/2014/main" id="{1FB20ECC-D409-498B-BB8B-FD60862EADA0}"/>
                </a:ext>
              </a:extLst>
            </p:cNvPr>
            <p:cNvSpPr/>
            <p:nvPr/>
          </p:nvSpPr>
          <p:spPr>
            <a:xfrm rot="16200000">
              <a:off x="6450692" y="4733132"/>
              <a:ext cx="342762" cy="2259248"/>
            </a:xfrm>
            <a:prstGeom prst="leftBrace">
              <a:avLst>
                <a:gd name="adj1" fmla="val 8333"/>
                <a:gd name="adj2" fmla="val 48748"/>
              </a:avLst>
            </a:prstGeom>
            <a:ln w="666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8CFE34-D7DC-430D-8BB5-2B0435FBC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89F0-CC9D-4863-9AEF-2B2EA5C81E38}" type="datetime1">
              <a:rPr lang="de-DE" smtClean="0"/>
              <a:t>23.01.2026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BF0C1D-5DBC-4426-903F-9A045ECD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6B573ED-EA11-4498-9A0E-0090F8825CEC}"/>
              </a:ext>
            </a:extLst>
          </p:cNvPr>
          <p:cNvSpPr/>
          <p:nvPr/>
        </p:nvSpPr>
        <p:spPr>
          <a:xfrm>
            <a:off x="0" y="6833182"/>
            <a:ext cx="1003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153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16075-21DC-4E4C-8224-A129EB45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Perfomance und Latenz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A0C0EEC0-1A74-4D2E-81DA-65F78C3FE3DA}"/>
              </a:ext>
            </a:extLst>
          </p:cNvPr>
          <p:cNvGraphicFramePr>
            <a:graphicFrameLocks/>
          </p:cNvGraphicFramePr>
          <p:nvPr/>
        </p:nvGraphicFramePr>
        <p:xfrm>
          <a:off x="5364956" y="1690688"/>
          <a:ext cx="5538788" cy="4519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529AD10-B2F5-47B4-9363-1EBAEB14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C621-A5E8-4AD4-B037-107C2647E9C2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AED248-E1BE-4F25-AEF4-C47611AD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D32FE1-8C20-4A81-A9D0-637BC054088B}"/>
              </a:ext>
            </a:extLst>
          </p:cNvPr>
          <p:cNvSpPr/>
          <p:nvPr/>
        </p:nvSpPr>
        <p:spPr>
          <a:xfrm>
            <a:off x="0" y="6833182"/>
            <a:ext cx="10609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5333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FE8D0F-7FB5-4B82-BBA2-EE7AA8542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Fehlerfälle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12F68F-716C-42DA-BEED-7FB4A062A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391D21-A771-43E1-BB3B-6D54385B1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4892-0E1C-4F9C-A731-EDC947A1751A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61E692-BEFF-42A4-889D-56E7CFEC6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544A6C8-D372-4462-9266-0E571B21723F}"/>
              </a:ext>
            </a:extLst>
          </p:cNvPr>
          <p:cNvSpPr/>
          <p:nvPr/>
        </p:nvSpPr>
        <p:spPr>
          <a:xfrm>
            <a:off x="0" y="6833182"/>
            <a:ext cx="11185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557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FDA52-3A66-4EB7-ACBC-F2BE2EE5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131D16-DE72-4E07-A08F-F0EB39CCB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00667A-EBC3-4430-8719-4B3FB9EB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73E98-CAB5-4576-A185-F6EEF26D0B57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88E5B4-7D4A-4335-8548-29985101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F1ADEE7-95ED-40C6-8A23-F8AD035EE303}"/>
              </a:ext>
            </a:extLst>
          </p:cNvPr>
          <p:cNvSpPr/>
          <p:nvPr/>
        </p:nvSpPr>
        <p:spPr>
          <a:xfrm>
            <a:off x="0" y="6833182"/>
            <a:ext cx="11761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1292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346EEE-2633-4E48-B75E-EC142BBFA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6F13D3-224E-40B1-BC2E-EC0C4006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08CC-F304-4AD7-81CF-0B44FE19C74A}" type="datetime1">
              <a:rPr lang="de-DE" smtClean="0"/>
              <a:t>23.01.2026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AF3148-2D62-4259-853A-D152067E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BEA9473-D9B5-40A0-9651-4714F110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5259C9D-04EB-47EE-96C4-056FE5B17997}"/>
              </a:ext>
            </a:extLst>
          </p:cNvPr>
          <p:cNvSpPr/>
          <p:nvPr/>
        </p:nvSpPr>
        <p:spPr>
          <a:xfrm>
            <a:off x="3422223" y="2260325"/>
            <a:ext cx="53475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de-DE" sz="8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Bei Fragen, fragen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0FF051B-6CE9-4F46-98FD-80C175499803}"/>
              </a:ext>
            </a:extLst>
          </p:cNvPr>
          <p:cNvSpPr/>
          <p:nvPr/>
        </p:nvSpPr>
        <p:spPr>
          <a:xfrm>
            <a:off x="0" y="6833182"/>
            <a:ext cx="12265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2743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9E281-7294-48A6-8FA7-813E056D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1522C8-61ED-4E27-8E85-733B3617C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https://docs.oracle.com/cd/A97335_02/apps.102/a83722/overvie3.htm#1014532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https://www.ibm.com/docs/en/app-connect/11.0.0?topic=corba-common-object-request-broker-architecture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https://refubium.fu-berlin.de/bitstream/handle/fub188/4102/12_chap12.pdf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https://learn.microsoK.com/de-de/dotnet/standard/naLve-interop/type-marshalling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https://www-ois-com.translate.goog/index.php/about-corba/? 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x_tr_sl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=en&amp;_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x_tr_tl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x_tr_hl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x_tr_pto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sge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#:~:text=CORBA%20is%20the%20world's%20leading,programm ing%20languages%2C%20and%20operating%20systems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N+TimesNewRomanPSMT"/>
              </a:rPr>
              <a:t>.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https://www.elpassion.com/de/glossary/what-is-common-object-request-broker-architecture-corba#:~: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text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=Eine%20der%20Hauptfunktionen%20von%20CORBA%20(%20Common,zwischen%20verschiedenen%2 0Plattformen%20und%20Programmiersprachen%20zu%20unterst%C3%BCtzen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N+TimesNewRomanPSMT"/>
              </a:rPr>
              <a:t>.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https://www.omg.org/corba/faq.htm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https://hilfe.comarch.de/cee/index.php/documentation/corba-schnittstelle/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https://www.arl.wustl.edu/PublicaLons/2000-04/comp00fgk.pdf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https://umu.diva-portal.org/smash/get/diva2:1987951/FULLTEXT01.pdf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https://docs.oasis-open.org/mq$/mq$/v5.0/mq$-v5.0.html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https://iot.telekom.com/de/blog/mq$-protokoll-funkLonsweise-anwendungen-und-vorteile-im-iot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https://www.opc-router.de/was-ist-mq$/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https://aws-amazon-com.translate.goog/what-is/mq$/? 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x_tr_sl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=en&amp;_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x_tr_tl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x_tr_hl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x_tr_pto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sge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#:~:text=Smart%20sensors%2C%20wearables%2C%20and%20oth er,can%20communicate%20IoT%20data%20efficiently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Q+Calibri"/>
              </a:rPr>
              <a:t>.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https://www.all-electronics.de/automaLsierung/basiswissen-mq$-was-kann-das-iot-kommunikaLons-protokoll/ 700581#:~: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text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=Antwort%205:%20MQTT%20verwendet%20QoS%2DModi%2C%20um%20die,QoS%2DStufen: %200%2C%201%20und%202%2C%20die%20verschiedene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https://www.pubnub.com/blog/what-is-mq$-use-cases/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https://www.ibm.com/docs/de/ibm-mq/9.3.x?topic=overview-mq-telemetry-transport-protocol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http://www.bbs-1.de/bbs1/umat/netze/netz8.html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https://www.kernel.org/doc/html/latest/networking/tuntap.html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https://www.researchgate.net/publicaLon/317391853_IoT_real_Lme_data_acquisiLon_using_MQTT_protocol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EvaluaLon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of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MQTT Bridge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Architectures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in a Cross-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OrganizaLonal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Context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von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Keila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Lima,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Tosin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Daniel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Oyetoyan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,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Rogardt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Heldal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, Wilhelm Hasselbring aus 01/2025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https://www.emqx.com/en/blog/mq$5-new-features-payload-format-indicator-and-content-type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https://mymq$.app/de/mq$-qos-levels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</a:t>
            </a:r>
            <a:r>
              <a:rPr lang="de-DE" sz="1800" dirty="0">
                <a:solidFill>
                  <a:srgbClr val="0000FF"/>
                </a:solidFill>
                <a:latin typeface="AAAAAQ+Calibri"/>
              </a:rPr>
              <a:t>tt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ps://phoenixnap.de/Glossar/Idle-Bedeutung 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BE3CD-0CE0-49DE-8D55-6C125CC1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131BF-7724-4913-869B-5D2E814B684B}" type="datetime1">
              <a:rPr lang="de-DE" smtClean="0"/>
              <a:t>23.01.2026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4BBA98-4892-4468-9342-5A81ECF5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120435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1275</Words>
  <Application>Microsoft Office PowerPoint</Application>
  <PresentationFormat>Breitbild</PresentationFormat>
  <Paragraphs>210</Paragraphs>
  <Slides>24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3" baseType="lpstr">
      <vt:lpstr>AAAAAB+HelveticaNeue</vt:lpstr>
      <vt:lpstr>AAAAAI+HelveticaNeue-Italic</vt:lpstr>
      <vt:lpstr>AAAAAJ+Helvetica</vt:lpstr>
      <vt:lpstr>AAAAAN+TimesNewRomanPSMT</vt:lpstr>
      <vt:lpstr>AAAAAQ+Calibri</vt:lpstr>
      <vt:lpstr>Arial</vt:lpstr>
      <vt:lpstr>Calibri</vt:lpstr>
      <vt:lpstr>Calibri Light</vt:lpstr>
      <vt:lpstr>Office Theme</vt:lpstr>
      <vt:lpstr>Tunneln von Nachrichten innerhalb von Massagebroker basierten Protokollen</vt:lpstr>
      <vt:lpstr>Inhalt</vt:lpstr>
      <vt:lpstr>Vorstellung Corba</vt:lpstr>
      <vt:lpstr>Vorstellung MQTT</vt:lpstr>
      <vt:lpstr>Entscheidung </vt:lpstr>
      <vt:lpstr>Systemdesign</vt:lpstr>
      <vt:lpstr>Softwareaufbau</vt:lpstr>
      <vt:lpstr>Softwareablauf (Start)</vt:lpstr>
      <vt:lpstr>Softwareablauf (Betrieb)</vt:lpstr>
      <vt:lpstr>Softwareablauf</vt:lpstr>
      <vt:lpstr>Softwareablauf</vt:lpstr>
      <vt:lpstr>Softwareaufruf</vt:lpstr>
      <vt:lpstr>Verbindungsaufbau</vt:lpstr>
      <vt:lpstr>Testszenarien</vt:lpstr>
      <vt:lpstr>Test 1: Erreichbarkeit über den Tunnel</vt:lpstr>
      <vt:lpstr>Test 2: TCP-Kommunikation über den Tunnel</vt:lpstr>
      <vt:lpstr>Perfomance und Latenz</vt:lpstr>
      <vt:lpstr>Perfomance und Latenz</vt:lpstr>
      <vt:lpstr>Perfomance und Latenz</vt:lpstr>
      <vt:lpstr>Perfomance und Latenz</vt:lpstr>
      <vt:lpstr>Fehlerfälle</vt:lpstr>
      <vt:lpstr>Fazit</vt:lpstr>
      <vt:lpstr>PowerPoint-Präsentation</vt:lpstr>
      <vt:lpstr>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Wetzlar, Robin</dc:creator>
  <cp:lastModifiedBy>Wetzlar, Robin</cp:lastModifiedBy>
  <cp:revision>23</cp:revision>
  <dcterms:created xsi:type="dcterms:W3CDTF">2026-01-19T12:07:04Z</dcterms:created>
  <dcterms:modified xsi:type="dcterms:W3CDTF">2026-01-23T09:35:18Z</dcterms:modified>
</cp:coreProperties>
</file>